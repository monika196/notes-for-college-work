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2" r:id="rId7"/>
    <p:sldId id="263" r:id="rId8"/>
    <p:sldId id="264" r:id="rId9"/>
    <p:sldId id="265" r:id="rId10"/>
    <p:sldId id="267" r:id="rId11"/>
    <p:sldId id="268" r:id="rId12"/>
    <p:sldId id="274" r:id="rId13"/>
    <p:sldId id="28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RUJdF3Mu84I9ambvMh34lWJvpC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B85C19-A433-4D10-9EDC-B45DD99064DA}">
  <a:tblStyle styleId="{8FB85C19-A433-4D10-9EDC-B45DD99064D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81" d="100"/>
          <a:sy n="81" d="100"/>
        </p:scale>
        <p:origin x="907"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ka N" userId="fbf39b50b78ee70d" providerId="LiveId" clId="{C46F262F-C303-4FBE-A434-0D9B55F96318}"/>
    <pc:docChg chg="undo custSel delSld modSld">
      <pc:chgData name="Monika N" userId="fbf39b50b78ee70d" providerId="LiveId" clId="{C46F262F-C303-4FBE-A434-0D9B55F96318}" dt="2026-04-20T14:54:39.912" v="760" actId="20577"/>
      <pc:docMkLst>
        <pc:docMk/>
      </pc:docMkLst>
      <pc:sldChg chg="modSp">
        <pc:chgData name="Monika N" userId="fbf39b50b78ee70d" providerId="LiveId" clId="{C46F262F-C303-4FBE-A434-0D9B55F96318}" dt="2026-04-20T14:54:39.912" v="760" actId="20577"/>
        <pc:sldMkLst>
          <pc:docMk/>
          <pc:sldMk cId="0" sldId="256"/>
        </pc:sldMkLst>
        <pc:spChg chg="mod">
          <ac:chgData name="Monika N" userId="fbf39b50b78ee70d" providerId="LiveId" clId="{C46F262F-C303-4FBE-A434-0D9B55F96318}" dt="2026-04-18T10:15:26.762" v="16" actId="207"/>
          <ac:spMkLst>
            <pc:docMk/>
            <pc:sldMk cId="0" sldId="256"/>
            <ac:spMk id="88" creationId="{00000000-0000-0000-0000-000000000000}"/>
          </ac:spMkLst>
        </pc:spChg>
        <pc:spChg chg="mod">
          <ac:chgData name="Monika N" userId="fbf39b50b78ee70d" providerId="LiveId" clId="{C46F262F-C303-4FBE-A434-0D9B55F96318}" dt="2026-04-20T14:54:39.912" v="760" actId="20577"/>
          <ac:spMkLst>
            <pc:docMk/>
            <pc:sldMk cId="0" sldId="256"/>
            <ac:spMk id="91" creationId="{00000000-0000-0000-0000-000000000000}"/>
          </ac:spMkLst>
        </pc:spChg>
        <pc:spChg chg="mod">
          <ac:chgData name="Monika N" userId="fbf39b50b78ee70d" providerId="LiveId" clId="{C46F262F-C303-4FBE-A434-0D9B55F96318}" dt="2026-04-18T10:21:45.491" v="136" actId="27636"/>
          <ac:spMkLst>
            <pc:docMk/>
            <pc:sldMk cId="0" sldId="256"/>
            <ac:spMk id="92" creationId="{00000000-0000-0000-0000-000000000000}"/>
          </ac:spMkLst>
        </pc:spChg>
        <pc:spChg chg="mod">
          <ac:chgData name="Monika N" userId="fbf39b50b78ee70d" providerId="LiveId" clId="{C46F262F-C303-4FBE-A434-0D9B55F96318}" dt="2026-04-18T10:16:43.972" v="19" actId="255"/>
          <ac:spMkLst>
            <pc:docMk/>
            <pc:sldMk cId="0" sldId="256"/>
            <ac:spMk id="93" creationId="{00000000-0000-0000-0000-000000000000}"/>
          </ac:spMkLst>
        </pc:spChg>
      </pc:sldChg>
      <pc:sldChg chg="modSp">
        <pc:chgData name="Monika N" userId="fbf39b50b78ee70d" providerId="LiveId" clId="{C46F262F-C303-4FBE-A434-0D9B55F96318}" dt="2026-04-18T15:12:31.851" v="503" actId="1076"/>
        <pc:sldMkLst>
          <pc:docMk/>
          <pc:sldMk cId="0" sldId="257"/>
        </pc:sldMkLst>
        <pc:spChg chg="mod">
          <ac:chgData name="Monika N" userId="fbf39b50b78ee70d" providerId="LiveId" clId="{C46F262F-C303-4FBE-A434-0D9B55F96318}" dt="2026-04-18T15:12:31.851" v="503" actId="1076"/>
          <ac:spMkLst>
            <pc:docMk/>
            <pc:sldMk cId="0" sldId="257"/>
            <ac:spMk id="99" creationId="{00000000-0000-0000-0000-000000000000}"/>
          </ac:spMkLst>
        </pc:spChg>
        <pc:spChg chg="mod">
          <ac:chgData name="Monika N" userId="fbf39b50b78ee70d" providerId="LiveId" clId="{C46F262F-C303-4FBE-A434-0D9B55F96318}" dt="2026-04-18T10:29:14.890" v="178" actId="20577"/>
          <ac:spMkLst>
            <pc:docMk/>
            <pc:sldMk cId="0" sldId="257"/>
            <ac:spMk id="100" creationId="{00000000-0000-0000-0000-000000000000}"/>
          </ac:spMkLst>
        </pc:spChg>
        <pc:spChg chg="mod">
          <ac:chgData name="Monika N" userId="fbf39b50b78ee70d" providerId="LiveId" clId="{C46F262F-C303-4FBE-A434-0D9B55F96318}" dt="2026-04-18T10:29:21.115" v="185" actId="20577"/>
          <ac:spMkLst>
            <pc:docMk/>
            <pc:sldMk cId="0" sldId="257"/>
            <ac:spMk id="101" creationId="{00000000-0000-0000-0000-000000000000}"/>
          </ac:spMkLst>
        </pc:spChg>
      </pc:sldChg>
      <pc:sldChg chg="modSp">
        <pc:chgData name="Monika N" userId="fbf39b50b78ee70d" providerId="LiveId" clId="{C46F262F-C303-4FBE-A434-0D9B55F96318}" dt="2026-04-18T10:41:26.598" v="247" actId="20577"/>
        <pc:sldMkLst>
          <pc:docMk/>
          <pc:sldMk cId="0" sldId="258"/>
        </pc:sldMkLst>
        <pc:spChg chg="mod">
          <ac:chgData name="Monika N" userId="fbf39b50b78ee70d" providerId="LiveId" clId="{C46F262F-C303-4FBE-A434-0D9B55F96318}" dt="2026-04-18T10:41:19.978" v="239" actId="20577"/>
          <ac:spMkLst>
            <pc:docMk/>
            <pc:sldMk cId="0" sldId="258"/>
            <ac:spMk id="109" creationId="{00000000-0000-0000-0000-000000000000}"/>
          </ac:spMkLst>
        </pc:spChg>
        <pc:spChg chg="mod">
          <ac:chgData name="Monika N" userId="fbf39b50b78ee70d" providerId="LiveId" clId="{C46F262F-C303-4FBE-A434-0D9B55F96318}" dt="2026-04-18T10:41:26.598" v="247" actId="20577"/>
          <ac:spMkLst>
            <pc:docMk/>
            <pc:sldMk cId="0" sldId="258"/>
            <ac:spMk id="110" creationId="{00000000-0000-0000-0000-000000000000}"/>
          </ac:spMkLst>
        </pc:spChg>
        <pc:graphicFrameChg chg="mod modGraphic">
          <ac:chgData name="Monika N" userId="fbf39b50b78ee70d" providerId="LiveId" clId="{C46F262F-C303-4FBE-A434-0D9B55F96318}" dt="2026-04-18T10:41:00.115" v="233" actId="14100"/>
          <ac:graphicFrameMkLst>
            <pc:docMk/>
            <pc:sldMk cId="0" sldId="258"/>
            <ac:graphicFrameMk id="112" creationId="{00000000-0000-0000-0000-000000000000}"/>
          </ac:graphicFrameMkLst>
        </pc:graphicFrameChg>
      </pc:sldChg>
      <pc:sldChg chg="modSp">
        <pc:chgData name="Monika N" userId="fbf39b50b78ee70d" providerId="LiveId" clId="{C46F262F-C303-4FBE-A434-0D9B55F96318}" dt="2026-04-18T14:37:35.471" v="326" actId="20577"/>
        <pc:sldMkLst>
          <pc:docMk/>
          <pc:sldMk cId="0" sldId="259"/>
        </pc:sldMkLst>
        <pc:spChg chg="mod">
          <ac:chgData name="Monika N" userId="fbf39b50b78ee70d" providerId="LiveId" clId="{C46F262F-C303-4FBE-A434-0D9B55F96318}" dt="2026-04-18T14:37:27.568" v="310" actId="20577"/>
          <ac:spMkLst>
            <pc:docMk/>
            <pc:sldMk cId="0" sldId="259"/>
            <ac:spMk id="118" creationId="{00000000-0000-0000-0000-000000000000}"/>
          </ac:spMkLst>
        </pc:spChg>
        <pc:spChg chg="mod">
          <ac:chgData name="Monika N" userId="fbf39b50b78ee70d" providerId="LiveId" clId="{C46F262F-C303-4FBE-A434-0D9B55F96318}" dt="2026-04-18T14:37:35.471" v="326" actId="20577"/>
          <ac:spMkLst>
            <pc:docMk/>
            <pc:sldMk cId="0" sldId="259"/>
            <ac:spMk id="119" creationId="{00000000-0000-0000-0000-000000000000}"/>
          </ac:spMkLst>
        </pc:spChg>
        <pc:graphicFrameChg chg="mod modGraphic">
          <ac:chgData name="Monika N" userId="fbf39b50b78ee70d" providerId="LiveId" clId="{C46F262F-C303-4FBE-A434-0D9B55F96318}" dt="2026-04-18T14:37:19.730" v="304" actId="1076"/>
          <ac:graphicFrameMkLst>
            <pc:docMk/>
            <pc:sldMk cId="0" sldId="259"/>
            <ac:graphicFrameMk id="121" creationId="{00000000-0000-0000-0000-000000000000}"/>
          </ac:graphicFrameMkLst>
        </pc:graphicFrameChg>
      </pc:sldChg>
      <pc:sldChg chg="modSp">
        <pc:chgData name="Monika N" userId="fbf39b50b78ee70d" providerId="LiveId" clId="{C46F262F-C303-4FBE-A434-0D9B55F96318}" dt="2026-04-18T15:05:14.998" v="399" actId="207"/>
        <pc:sldMkLst>
          <pc:docMk/>
          <pc:sldMk cId="0" sldId="260"/>
        </pc:sldMkLst>
        <pc:spChg chg="mod">
          <ac:chgData name="Monika N" userId="fbf39b50b78ee70d" providerId="LiveId" clId="{C46F262F-C303-4FBE-A434-0D9B55F96318}" dt="2026-04-18T15:05:14.998" v="399" actId="207"/>
          <ac:spMkLst>
            <pc:docMk/>
            <pc:sldMk cId="0" sldId="260"/>
            <ac:spMk id="126" creationId="{00000000-0000-0000-0000-000000000000}"/>
          </ac:spMkLst>
        </pc:spChg>
        <pc:spChg chg="mod">
          <ac:chgData name="Monika N" userId="fbf39b50b78ee70d" providerId="LiveId" clId="{C46F262F-C303-4FBE-A434-0D9B55F96318}" dt="2026-04-18T14:40:57.629" v="355" actId="20577"/>
          <ac:spMkLst>
            <pc:docMk/>
            <pc:sldMk cId="0" sldId="260"/>
            <ac:spMk id="127" creationId="{00000000-0000-0000-0000-000000000000}"/>
          </ac:spMkLst>
        </pc:spChg>
        <pc:spChg chg="mod">
          <ac:chgData name="Monika N" userId="fbf39b50b78ee70d" providerId="LiveId" clId="{C46F262F-C303-4FBE-A434-0D9B55F96318}" dt="2026-04-18T14:41:02.824" v="366" actId="20577"/>
          <ac:spMkLst>
            <pc:docMk/>
            <pc:sldMk cId="0" sldId="260"/>
            <ac:spMk id="128" creationId="{00000000-0000-0000-0000-000000000000}"/>
          </ac:spMkLst>
        </pc:spChg>
      </pc:sldChg>
      <pc:sldChg chg="addSp delSp modSp">
        <pc:chgData name="Monika N" userId="fbf39b50b78ee70d" providerId="LiveId" clId="{C46F262F-C303-4FBE-A434-0D9B55F96318}" dt="2026-04-18T15:11:01.089" v="490" actId="1076"/>
        <pc:sldMkLst>
          <pc:docMk/>
          <pc:sldMk cId="0" sldId="262"/>
        </pc:sldMkLst>
        <pc:spChg chg="add del mod">
          <ac:chgData name="Monika N" userId="fbf39b50b78ee70d" providerId="LiveId" clId="{C46F262F-C303-4FBE-A434-0D9B55F96318}" dt="2026-04-18T15:10:33.071" v="474" actId="478"/>
          <ac:spMkLst>
            <pc:docMk/>
            <pc:sldMk cId="0" sldId="262"/>
            <ac:spMk id="5" creationId="{74BC8B36-DD50-4229-A201-B6B6D2FA1D04}"/>
          </ac:spMkLst>
        </pc:spChg>
        <pc:spChg chg="mod">
          <ac:chgData name="Monika N" userId="fbf39b50b78ee70d" providerId="LiveId" clId="{C46F262F-C303-4FBE-A434-0D9B55F96318}" dt="2026-04-18T15:10:48.650" v="481" actId="20577"/>
          <ac:spMkLst>
            <pc:docMk/>
            <pc:sldMk cId="0" sldId="262"/>
            <ac:spMk id="145" creationId="{00000000-0000-0000-0000-000000000000}"/>
          </ac:spMkLst>
        </pc:spChg>
        <pc:spChg chg="mod">
          <ac:chgData name="Monika N" userId="fbf39b50b78ee70d" providerId="LiveId" clId="{C46F262F-C303-4FBE-A434-0D9B55F96318}" dt="2026-04-18T15:10:53.163" v="488" actId="20577"/>
          <ac:spMkLst>
            <pc:docMk/>
            <pc:sldMk cId="0" sldId="262"/>
            <ac:spMk id="146" creationId="{00000000-0000-0000-0000-000000000000}"/>
          </ac:spMkLst>
        </pc:spChg>
        <pc:picChg chg="add mod">
          <ac:chgData name="Monika N" userId="fbf39b50b78ee70d" providerId="LiveId" clId="{C46F262F-C303-4FBE-A434-0D9B55F96318}" dt="2026-04-18T15:11:01.089" v="490" actId="1076"/>
          <ac:picMkLst>
            <pc:docMk/>
            <pc:sldMk cId="0" sldId="262"/>
            <ac:picMk id="3" creationId="{6B35257A-F8EF-4CDB-83E6-F52EA89B1EB8}"/>
          </ac:picMkLst>
        </pc:picChg>
        <pc:picChg chg="del">
          <ac:chgData name="Monika N" userId="fbf39b50b78ee70d" providerId="LiveId" clId="{C46F262F-C303-4FBE-A434-0D9B55F96318}" dt="2026-04-18T15:09:52.675" v="461" actId="478"/>
          <ac:picMkLst>
            <pc:docMk/>
            <pc:sldMk cId="0" sldId="262"/>
            <ac:picMk id="144" creationId="{00000000-0000-0000-0000-000000000000}"/>
          </ac:picMkLst>
        </pc:picChg>
      </pc:sldChg>
      <pc:sldChg chg="addSp delSp modSp">
        <pc:chgData name="Monika N" userId="fbf39b50b78ee70d" providerId="LiveId" clId="{C46F262F-C303-4FBE-A434-0D9B55F96318}" dt="2026-04-18T15:00:12.525" v="386" actId="20577"/>
        <pc:sldMkLst>
          <pc:docMk/>
          <pc:sldMk cId="0" sldId="263"/>
        </pc:sldMkLst>
        <pc:spChg chg="mod">
          <ac:chgData name="Monika N" userId="fbf39b50b78ee70d" providerId="LiveId" clId="{C46F262F-C303-4FBE-A434-0D9B55F96318}" dt="2026-04-18T15:00:06.546" v="379" actId="20577"/>
          <ac:spMkLst>
            <pc:docMk/>
            <pc:sldMk cId="0" sldId="263"/>
            <ac:spMk id="153" creationId="{00000000-0000-0000-0000-000000000000}"/>
          </ac:spMkLst>
        </pc:spChg>
        <pc:spChg chg="mod">
          <ac:chgData name="Monika N" userId="fbf39b50b78ee70d" providerId="LiveId" clId="{C46F262F-C303-4FBE-A434-0D9B55F96318}" dt="2026-04-18T15:00:12.525" v="386" actId="20577"/>
          <ac:spMkLst>
            <pc:docMk/>
            <pc:sldMk cId="0" sldId="263"/>
            <ac:spMk id="154" creationId="{00000000-0000-0000-0000-000000000000}"/>
          </ac:spMkLst>
        </pc:spChg>
        <pc:picChg chg="add mod">
          <ac:chgData name="Monika N" userId="fbf39b50b78ee70d" providerId="LiveId" clId="{C46F262F-C303-4FBE-A434-0D9B55F96318}" dt="2026-04-18T14:59:57.483" v="373" actId="14100"/>
          <ac:picMkLst>
            <pc:docMk/>
            <pc:sldMk cId="0" sldId="263"/>
            <ac:picMk id="2" creationId="{6B7A0DDF-476F-4CD5-A2CC-CCBA3AB8D3CF}"/>
          </ac:picMkLst>
        </pc:picChg>
        <pc:picChg chg="del">
          <ac:chgData name="Monika N" userId="fbf39b50b78ee70d" providerId="LiveId" clId="{C46F262F-C303-4FBE-A434-0D9B55F96318}" dt="2026-04-18T14:59:49.742" v="370" actId="478"/>
          <ac:picMkLst>
            <pc:docMk/>
            <pc:sldMk cId="0" sldId="263"/>
            <ac:picMk id="157" creationId="{00000000-0000-0000-0000-000000000000}"/>
          </ac:picMkLst>
        </pc:picChg>
      </pc:sldChg>
      <pc:sldChg chg="addSp delSp modSp">
        <pc:chgData name="Monika N" userId="fbf39b50b78ee70d" providerId="LiveId" clId="{C46F262F-C303-4FBE-A434-0D9B55F96318}" dt="2026-04-18T15:08:03.370" v="457" actId="20577"/>
        <pc:sldMkLst>
          <pc:docMk/>
          <pc:sldMk cId="0" sldId="264"/>
        </pc:sldMkLst>
        <pc:spChg chg="add del mod">
          <ac:chgData name="Monika N" userId="fbf39b50b78ee70d" providerId="LiveId" clId="{C46F262F-C303-4FBE-A434-0D9B55F96318}" dt="2026-04-18T15:05:48.602" v="408"/>
          <ac:spMkLst>
            <pc:docMk/>
            <pc:sldMk cId="0" sldId="264"/>
            <ac:spMk id="2" creationId="{40C7E680-96E4-492D-9B2E-3054346A48FD}"/>
          </ac:spMkLst>
        </pc:spChg>
        <pc:spChg chg="add del mod">
          <ac:chgData name="Monika N" userId="fbf39b50b78ee70d" providerId="LiveId" clId="{C46F262F-C303-4FBE-A434-0D9B55F96318}" dt="2026-04-18T15:05:48.602" v="408"/>
          <ac:spMkLst>
            <pc:docMk/>
            <pc:sldMk cId="0" sldId="264"/>
            <ac:spMk id="3" creationId="{DE75B630-C870-49D0-9018-3F773F5E0459}"/>
          </ac:spMkLst>
        </pc:spChg>
        <pc:spChg chg="add del mod">
          <ac:chgData name="Monika N" userId="fbf39b50b78ee70d" providerId="LiveId" clId="{C46F262F-C303-4FBE-A434-0D9B55F96318}" dt="2026-04-18T15:05:48.602" v="408"/>
          <ac:spMkLst>
            <pc:docMk/>
            <pc:sldMk cId="0" sldId="264"/>
            <ac:spMk id="4" creationId="{BC3F58E4-E3CE-458E-877A-D0AFCDD32A0C}"/>
          </ac:spMkLst>
        </pc:spChg>
        <pc:spChg chg="mod">
          <ac:chgData name="Monika N" userId="fbf39b50b78ee70d" providerId="LiveId" clId="{C46F262F-C303-4FBE-A434-0D9B55F96318}" dt="2026-04-18T15:07:46.866" v="444"/>
          <ac:spMkLst>
            <pc:docMk/>
            <pc:sldMk cId="0" sldId="264"/>
            <ac:spMk id="162" creationId="{00000000-0000-0000-0000-000000000000}"/>
          </ac:spMkLst>
        </pc:spChg>
        <pc:spChg chg="mod">
          <ac:chgData name="Monika N" userId="fbf39b50b78ee70d" providerId="LiveId" clId="{C46F262F-C303-4FBE-A434-0D9B55F96318}" dt="2026-04-18T15:07:58.567" v="450" actId="20577"/>
          <ac:spMkLst>
            <pc:docMk/>
            <pc:sldMk cId="0" sldId="264"/>
            <ac:spMk id="163" creationId="{00000000-0000-0000-0000-000000000000}"/>
          </ac:spMkLst>
        </pc:spChg>
        <pc:spChg chg="mod">
          <ac:chgData name="Monika N" userId="fbf39b50b78ee70d" providerId="LiveId" clId="{C46F262F-C303-4FBE-A434-0D9B55F96318}" dt="2026-04-18T15:08:03.370" v="457" actId="20577"/>
          <ac:spMkLst>
            <pc:docMk/>
            <pc:sldMk cId="0" sldId="264"/>
            <ac:spMk id="164" creationId="{00000000-0000-0000-0000-000000000000}"/>
          </ac:spMkLst>
        </pc:spChg>
      </pc:sldChg>
      <pc:sldChg chg="modSp">
        <pc:chgData name="Monika N" userId="fbf39b50b78ee70d" providerId="LiveId" clId="{C46F262F-C303-4FBE-A434-0D9B55F96318}" dt="2026-04-18T15:15:24.268" v="534" actId="20577"/>
        <pc:sldMkLst>
          <pc:docMk/>
          <pc:sldMk cId="0" sldId="265"/>
        </pc:sldMkLst>
        <pc:spChg chg="mod">
          <ac:chgData name="Monika N" userId="fbf39b50b78ee70d" providerId="LiveId" clId="{C46F262F-C303-4FBE-A434-0D9B55F96318}" dt="2026-04-18T15:15:00.773" v="521"/>
          <ac:spMkLst>
            <pc:docMk/>
            <pc:sldMk cId="0" sldId="265"/>
            <ac:spMk id="171" creationId="{00000000-0000-0000-0000-000000000000}"/>
          </ac:spMkLst>
        </pc:spChg>
        <pc:spChg chg="mod">
          <ac:chgData name="Monika N" userId="fbf39b50b78ee70d" providerId="LiveId" clId="{C46F262F-C303-4FBE-A434-0D9B55F96318}" dt="2026-04-18T15:15:18.083" v="527" actId="20577"/>
          <ac:spMkLst>
            <pc:docMk/>
            <pc:sldMk cId="0" sldId="265"/>
            <ac:spMk id="172" creationId="{00000000-0000-0000-0000-000000000000}"/>
          </ac:spMkLst>
        </pc:spChg>
        <pc:spChg chg="mod">
          <ac:chgData name="Monika N" userId="fbf39b50b78ee70d" providerId="LiveId" clId="{C46F262F-C303-4FBE-A434-0D9B55F96318}" dt="2026-04-18T15:15:24.268" v="534" actId="20577"/>
          <ac:spMkLst>
            <pc:docMk/>
            <pc:sldMk cId="0" sldId="265"/>
            <ac:spMk id="173" creationId="{00000000-0000-0000-0000-000000000000}"/>
          </ac:spMkLst>
        </pc:spChg>
      </pc:sldChg>
      <pc:sldChg chg="modSp">
        <pc:chgData name="Monika N" userId="fbf39b50b78ee70d" providerId="LiveId" clId="{C46F262F-C303-4FBE-A434-0D9B55F96318}" dt="2026-04-18T15:17:03.005" v="564" actId="20577"/>
        <pc:sldMkLst>
          <pc:docMk/>
          <pc:sldMk cId="0" sldId="267"/>
        </pc:sldMkLst>
        <pc:spChg chg="mod">
          <ac:chgData name="Monika N" userId="fbf39b50b78ee70d" providerId="LiveId" clId="{C46F262F-C303-4FBE-A434-0D9B55F96318}" dt="2026-04-18T15:16:47.018" v="549"/>
          <ac:spMkLst>
            <pc:docMk/>
            <pc:sldMk cId="0" sldId="267"/>
            <ac:spMk id="189" creationId="{00000000-0000-0000-0000-000000000000}"/>
          </ac:spMkLst>
        </pc:spChg>
        <pc:spChg chg="mod">
          <ac:chgData name="Monika N" userId="fbf39b50b78ee70d" providerId="LiveId" clId="{C46F262F-C303-4FBE-A434-0D9B55F96318}" dt="2026-04-18T15:16:58.231" v="557" actId="20577"/>
          <ac:spMkLst>
            <pc:docMk/>
            <pc:sldMk cId="0" sldId="267"/>
            <ac:spMk id="190" creationId="{00000000-0000-0000-0000-000000000000}"/>
          </ac:spMkLst>
        </pc:spChg>
        <pc:spChg chg="mod">
          <ac:chgData name="Monika N" userId="fbf39b50b78ee70d" providerId="LiveId" clId="{C46F262F-C303-4FBE-A434-0D9B55F96318}" dt="2026-04-18T15:17:03.005" v="564" actId="20577"/>
          <ac:spMkLst>
            <pc:docMk/>
            <pc:sldMk cId="0" sldId="267"/>
            <ac:spMk id="191" creationId="{00000000-0000-0000-0000-000000000000}"/>
          </ac:spMkLst>
        </pc:spChg>
      </pc:sldChg>
      <pc:sldChg chg="addSp delSp modSp">
        <pc:chgData name="Monika N" userId="fbf39b50b78ee70d" providerId="LiveId" clId="{C46F262F-C303-4FBE-A434-0D9B55F96318}" dt="2026-04-18T15:22:58.040" v="627" actId="20577"/>
        <pc:sldMkLst>
          <pc:docMk/>
          <pc:sldMk cId="0" sldId="268"/>
        </pc:sldMkLst>
        <pc:spChg chg="add mod">
          <ac:chgData name="Monika N" userId="fbf39b50b78ee70d" providerId="LiveId" clId="{C46F262F-C303-4FBE-A434-0D9B55F96318}" dt="2026-04-18T15:22:12.553" v="605" actId="1076"/>
          <ac:spMkLst>
            <pc:docMk/>
            <pc:sldMk cId="0" sldId="268"/>
            <ac:spMk id="2" creationId="{4514DC5E-A029-4AEB-8AB6-16BEAD288744}"/>
          </ac:spMkLst>
        </pc:spChg>
        <pc:spChg chg="add mod">
          <ac:chgData name="Monika N" userId="fbf39b50b78ee70d" providerId="LiveId" clId="{C46F262F-C303-4FBE-A434-0D9B55F96318}" dt="2026-04-18T15:22:29.601" v="609" actId="14100"/>
          <ac:spMkLst>
            <pc:docMk/>
            <pc:sldMk cId="0" sldId="268"/>
            <ac:spMk id="8" creationId="{99CAE864-926D-4DAE-9E87-936D6CF0630F}"/>
          </ac:spMkLst>
        </pc:spChg>
        <pc:spChg chg="del mod">
          <ac:chgData name="Monika N" userId="fbf39b50b78ee70d" providerId="LiveId" clId="{C46F262F-C303-4FBE-A434-0D9B55F96318}" dt="2026-04-18T15:20:53.927" v="589"/>
          <ac:spMkLst>
            <pc:docMk/>
            <pc:sldMk cId="0" sldId="268"/>
            <ac:spMk id="198" creationId="{00000000-0000-0000-0000-000000000000}"/>
          </ac:spMkLst>
        </pc:spChg>
        <pc:spChg chg="mod">
          <ac:chgData name="Monika N" userId="fbf39b50b78ee70d" providerId="LiveId" clId="{C46F262F-C303-4FBE-A434-0D9B55F96318}" dt="2026-04-18T15:22:53.790" v="620" actId="20577"/>
          <ac:spMkLst>
            <pc:docMk/>
            <pc:sldMk cId="0" sldId="268"/>
            <ac:spMk id="199" creationId="{00000000-0000-0000-0000-000000000000}"/>
          </ac:spMkLst>
        </pc:spChg>
        <pc:spChg chg="mod">
          <ac:chgData name="Monika N" userId="fbf39b50b78ee70d" providerId="LiveId" clId="{C46F262F-C303-4FBE-A434-0D9B55F96318}" dt="2026-04-18T15:22:58.040" v="627" actId="20577"/>
          <ac:spMkLst>
            <pc:docMk/>
            <pc:sldMk cId="0" sldId="268"/>
            <ac:spMk id="200" creationId="{00000000-0000-0000-0000-000000000000}"/>
          </ac:spMkLst>
        </pc:spChg>
        <pc:spChg chg="mod">
          <ac:chgData name="Monika N" userId="fbf39b50b78ee70d" providerId="LiveId" clId="{C46F262F-C303-4FBE-A434-0D9B55F96318}" dt="2026-04-18T15:22:45.865" v="612" actId="1076"/>
          <ac:spMkLst>
            <pc:docMk/>
            <pc:sldMk cId="0" sldId="268"/>
            <ac:spMk id="201" creationId="{00000000-0000-0000-0000-000000000000}"/>
          </ac:spMkLst>
        </pc:spChg>
      </pc:sldChg>
      <pc:sldChg chg="modSp">
        <pc:chgData name="Monika N" userId="fbf39b50b78ee70d" providerId="LiveId" clId="{C46F262F-C303-4FBE-A434-0D9B55F96318}" dt="2026-04-20T10:46:35.799" v="757" actId="207"/>
        <pc:sldMkLst>
          <pc:docMk/>
          <pc:sldMk cId="0" sldId="274"/>
        </pc:sldMkLst>
        <pc:spChg chg="mod">
          <ac:chgData name="Monika N" userId="fbf39b50b78ee70d" providerId="LiveId" clId="{C46F262F-C303-4FBE-A434-0D9B55F96318}" dt="2026-04-18T15:17:27.233" v="586" actId="20577"/>
          <ac:spMkLst>
            <pc:docMk/>
            <pc:sldMk cId="0" sldId="274"/>
            <ac:spMk id="252" creationId="{00000000-0000-0000-0000-000000000000}"/>
          </ac:spMkLst>
        </pc:spChg>
        <pc:spChg chg="mod">
          <ac:chgData name="Monika N" userId="fbf39b50b78ee70d" providerId="LiveId" clId="{C46F262F-C303-4FBE-A434-0D9B55F96318}" dt="2026-04-20T10:46:35.799" v="757" actId="207"/>
          <ac:spMkLst>
            <pc:docMk/>
            <pc:sldMk cId="0" sldId="274"/>
            <ac:spMk id="253" creationId="{00000000-0000-0000-0000-000000000000}"/>
          </ac:spMkLst>
        </pc:spChg>
        <pc:spChg chg="mod">
          <ac:chgData name="Monika N" userId="fbf39b50b78ee70d" providerId="LiveId" clId="{C46F262F-C303-4FBE-A434-0D9B55F96318}" dt="2026-04-18T15:24:24.356" v="645" actId="20577"/>
          <ac:spMkLst>
            <pc:docMk/>
            <pc:sldMk cId="0" sldId="274"/>
            <ac:spMk id="254" creationId="{00000000-0000-0000-0000-000000000000}"/>
          </ac:spMkLst>
        </pc:spChg>
        <pc:spChg chg="mod">
          <ac:chgData name="Monika N" userId="fbf39b50b78ee70d" providerId="LiveId" clId="{C46F262F-C303-4FBE-A434-0D9B55F96318}" dt="2026-04-18T15:24:29.181" v="652" actId="20577"/>
          <ac:spMkLst>
            <pc:docMk/>
            <pc:sldMk cId="0" sldId="274"/>
            <ac:spMk id="255" creationId="{00000000-0000-0000-0000-000000000000}"/>
          </ac:spMkLst>
        </pc:spChg>
      </pc:sldChg>
      <pc:sldChg chg="addSp delSp modSp">
        <pc:chgData name="Monika N" userId="fbf39b50b78ee70d" providerId="LiveId" clId="{C46F262F-C303-4FBE-A434-0D9B55F96318}" dt="2026-04-18T15:33:03.419" v="749" actId="20577"/>
        <pc:sldMkLst>
          <pc:docMk/>
          <pc:sldMk cId="0" sldId="280"/>
        </pc:sldMkLst>
        <pc:spChg chg="add del">
          <ac:chgData name="Monika N" userId="fbf39b50b78ee70d" providerId="LiveId" clId="{C46F262F-C303-4FBE-A434-0D9B55F96318}" dt="2026-04-18T15:26:15.170" v="655"/>
          <ac:spMkLst>
            <pc:docMk/>
            <pc:sldMk cId="0" sldId="280"/>
            <ac:spMk id="2" creationId="{269605E5-B7D7-4B27-AA8B-3978070C191E}"/>
          </ac:spMkLst>
        </pc:spChg>
        <pc:spChg chg="add del mod">
          <ac:chgData name="Monika N" userId="fbf39b50b78ee70d" providerId="LiveId" clId="{C46F262F-C303-4FBE-A434-0D9B55F96318}" dt="2026-04-18T15:32:48.146" v="736" actId="12"/>
          <ac:spMkLst>
            <pc:docMk/>
            <pc:sldMk cId="0" sldId="280"/>
            <ac:spMk id="3" creationId="{F3B3EA2D-2486-481A-959E-47D6017004B7}"/>
          </ac:spMkLst>
        </pc:spChg>
        <pc:spChg chg="add mod">
          <ac:chgData name="Monika N" userId="fbf39b50b78ee70d" providerId="LiveId" clId="{C46F262F-C303-4FBE-A434-0D9B55F96318}" dt="2026-04-18T15:32:37.948" v="734" actId="12"/>
          <ac:spMkLst>
            <pc:docMk/>
            <pc:sldMk cId="0" sldId="280"/>
            <ac:spMk id="4" creationId="{1C96FAF3-9234-4D20-9DDD-70A121A8C4BE}"/>
          </ac:spMkLst>
        </pc:spChg>
        <pc:spChg chg="mod">
          <ac:chgData name="Monika N" userId="fbf39b50b78ee70d" providerId="LiveId" clId="{C46F262F-C303-4FBE-A434-0D9B55F96318}" dt="2026-04-18T15:31:42.532" v="727" actId="20577"/>
          <ac:spMkLst>
            <pc:docMk/>
            <pc:sldMk cId="0" sldId="280"/>
            <ac:spMk id="309" creationId="{00000000-0000-0000-0000-000000000000}"/>
          </ac:spMkLst>
        </pc:spChg>
        <pc:spChg chg="mod">
          <ac:chgData name="Monika N" userId="fbf39b50b78ee70d" providerId="LiveId" clId="{C46F262F-C303-4FBE-A434-0D9B55F96318}" dt="2026-04-18T15:32:58.509" v="742" actId="20577"/>
          <ac:spMkLst>
            <pc:docMk/>
            <pc:sldMk cId="0" sldId="280"/>
            <ac:spMk id="310" creationId="{00000000-0000-0000-0000-000000000000}"/>
          </ac:spMkLst>
        </pc:spChg>
        <pc:spChg chg="mod">
          <ac:chgData name="Monika N" userId="fbf39b50b78ee70d" providerId="LiveId" clId="{C46F262F-C303-4FBE-A434-0D9B55F96318}" dt="2026-04-18T15:33:03.419" v="749" actId="20577"/>
          <ac:spMkLst>
            <pc:docMk/>
            <pc:sldMk cId="0" sldId="280"/>
            <ac:spMk id="311" creationId="{00000000-0000-0000-0000-000000000000}"/>
          </ac:spMkLst>
        </pc:spChg>
        <pc:spChg chg="mod">
          <ac:chgData name="Monika N" userId="fbf39b50b78ee70d" providerId="LiveId" clId="{C46F262F-C303-4FBE-A434-0D9B55F96318}" dt="2026-04-18T15:28:33.392" v="680" actId="1076"/>
          <ac:spMkLst>
            <pc:docMk/>
            <pc:sldMk cId="0" sldId="280"/>
            <ac:spMk id="3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0cf035dbfd_0_1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0cf035dbfd_0_1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0cf035dbfd_0_2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0cf035dbfd_0_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5183188" y="987425"/>
            <a:ext cx="6172200" cy="4873625"/>
          </a:xfrm>
          <a:prstGeom prst="rect">
            <a:avLst/>
          </a:prstGeom>
          <a:noFill/>
          <a:ln>
            <a:noFill/>
          </a:ln>
        </p:spPr>
      </p:sp>
      <p:sp>
        <p:nvSpPr>
          <p:cNvPr id="68" name="Google Shape;68;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flask.palletsprojects.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dev.mysql.com/do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836032" y="1236704"/>
            <a:ext cx="9144000" cy="1007377"/>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1800"/>
              <a:buFont typeface="Cambria"/>
              <a:buNone/>
            </a:pPr>
            <a:r>
              <a:rPr lang="en-US" sz="1800" b="1" dirty="0">
                <a:latin typeface="Cambria"/>
                <a:ea typeface="Cambria"/>
                <a:cs typeface="Cambria"/>
                <a:sym typeface="Cambria"/>
              </a:rPr>
              <a:t>Academic Year 2025 - 26</a:t>
            </a:r>
            <a:br>
              <a:rPr lang="en-US" sz="1800" b="1" dirty="0">
                <a:latin typeface="Cambria"/>
                <a:ea typeface="Cambria"/>
                <a:cs typeface="Cambria"/>
                <a:sym typeface="Cambria"/>
              </a:rPr>
            </a:br>
            <a:r>
              <a:rPr lang="en-US" sz="1800" b="1" dirty="0">
                <a:solidFill>
                  <a:srgbClr val="C00000"/>
                </a:solidFill>
                <a:latin typeface="Cambria"/>
                <a:ea typeface="Cambria"/>
                <a:cs typeface="Cambria"/>
                <a:sym typeface="Cambria"/>
              </a:rPr>
              <a:t>S6 MINI PROJECT - II</a:t>
            </a:r>
            <a:br>
              <a:rPr lang="en-US" sz="1800" b="1" dirty="0">
                <a:solidFill>
                  <a:srgbClr val="C00000"/>
                </a:solidFill>
                <a:latin typeface="Cambria"/>
                <a:ea typeface="Cambria"/>
                <a:cs typeface="Cambria"/>
                <a:sym typeface="Cambria"/>
              </a:rPr>
            </a:br>
            <a:r>
              <a:rPr lang="en-US" sz="1800" b="1" dirty="0">
                <a:solidFill>
                  <a:schemeClr val="tx1"/>
                </a:solidFill>
                <a:latin typeface="Cambria"/>
                <a:ea typeface="Cambria"/>
                <a:cs typeface="Cambria"/>
                <a:sym typeface="Cambria"/>
              </a:rPr>
              <a:t>Final</a:t>
            </a:r>
            <a:r>
              <a:rPr lang="en-US" sz="1800" b="1" dirty="0">
                <a:latin typeface="Cambria"/>
                <a:ea typeface="Cambria"/>
                <a:cs typeface="Cambria"/>
                <a:sym typeface="Cambria"/>
              </a:rPr>
              <a:t> Review </a:t>
            </a:r>
            <a:endParaRPr sz="1800" b="1" dirty="0">
              <a:latin typeface="Cambria"/>
              <a:ea typeface="Cambria"/>
              <a:cs typeface="Cambria"/>
              <a:sym typeface="Cambria"/>
            </a:endParaRPr>
          </a:p>
        </p:txBody>
      </p:sp>
      <p:sp>
        <p:nvSpPr>
          <p:cNvPr id="89" name="Google Shape;89;p1"/>
          <p:cNvSpPr txBox="1">
            <a:spLocks noGrp="1"/>
          </p:cNvSpPr>
          <p:nvPr>
            <p:ph type="subTitle" idx="1"/>
          </p:nvPr>
        </p:nvSpPr>
        <p:spPr>
          <a:xfrm>
            <a:off x="1836032" y="2204425"/>
            <a:ext cx="9144000" cy="127636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385623"/>
              </a:buClr>
              <a:buSzPts val="2400"/>
              <a:buNone/>
            </a:pPr>
            <a:r>
              <a:rPr lang="en-US" b="1" dirty="0">
                <a:solidFill>
                  <a:srgbClr val="385623"/>
                </a:solidFill>
                <a:latin typeface="Cambria"/>
                <a:ea typeface="Cambria"/>
                <a:cs typeface="Cambria"/>
                <a:sym typeface="Cambria"/>
              </a:rPr>
              <a:t>PROJECT TITLE</a:t>
            </a:r>
            <a:endParaRPr dirty="0"/>
          </a:p>
          <a:p>
            <a:pPr marL="0" lvl="0" indent="0" algn="ctr" rtl="0">
              <a:lnSpc>
                <a:spcPct val="90000"/>
              </a:lnSpc>
              <a:spcBef>
                <a:spcPts val="1000"/>
              </a:spcBef>
              <a:spcAft>
                <a:spcPts val="0"/>
              </a:spcAft>
              <a:buClr>
                <a:schemeClr val="dk1"/>
              </a:buClr>
              <a:buSzPts val="2400"/>
              <a:buNone/>
            </a:pPr>
            <a:r>
              <a:rPr lang="en-US" b="1" dirty="0">
                <a:solidFill>
                  <a:srgbClr val="7030A0"/>
                </a:solidFill>
                <a:latin typeface="Cambria"/>
                <a:ea typeface="Cambria"/>
                <a:cs typeface="Cambria"/>
                <a:sym typeface="Cambria"/>
              </a:rPr>
              <a:t>TRAINING RECOMMENDATION SYSTEM</a:t>
            </a:r>
            <a:endParaRPr b="1" dirty="0">
              <a:solidFill>
                <a:srgbClr val="7030A0"/>
              </a:solidFill>
              <a:latin typeface="Cambria"/>
              <a:ea typeface="Cambria"/>
              <a:cs typeface="Cambria"/>
              <a:sym typeface="Cambria"/>
            </a:endParaRPr>
          </a:p>
          <a:p>
            <a:pPr marL="0" lvl="0" indent="0" algn="ctr" rtl="0">
              <a:lnSpc>
                <a:spcPct val="90000"/>
              </a:lnSpc>
              <a:spcBef>
                <a:spcPts val="1000"/>
              </a:spcBef>
              <a:spcAft>
                <a:spcPts val="0"/>
              </a:spcAft>
              <a:buClr>
                <a:schemeClr val="dk1"/>
              </a:buClr>
              <a:buSzPts val="2400"/>
              <a:buNone/>
            </a:pPr>
            <a:endParaRPr b="1" dirty="0">
              <a:latin typeface="Cambria"/>
              <a:ea typeface="Cambria"/>
              <a:cs typeface="Cambria"/>
              <a:sym typeface="Cambria"/>
            </a:endParaRPr>
          </a:p>
        </p:txBody>
      </p:sp>
      <p:pic>
        <p:nvPicPr>
          <p:cNvPr id="90" name="Google Shape;90;p1"/>
          <p:cNvPicPr preferRelativeResize="0"/>
          <p:nvPr/>
        </p:nvPicPr>
        <p:blipFill rotWithShape="1">
          <a:blip r:embed="rId3">
            <a:alphaModFix/>
          </a:blip>
          <a:srcRect/>
          <a:stretch/>
        </p:blipFill>
        <p:spPr>
          <a:xfrm>
            <a:off x="2244435" y="0"/>
            <a:ext cx="7675419" cy="1308626"/>
          </a:xfrm>
          <a:prstGeom prst="rect">
            <a:avLst/>
          </a:prstGeom>
          <a:noFill/>
          <a:ln>
            <a:noFill/>
          </a:ln>
        </p:spPr>
      </p:pic>
      <p:sp>
        <p:nvSpPr>
          <p:cNvPr id="91" name="Google Shape;91;p1"/>
          <p:cNvSpPr txBox="1"/>
          <p:nvPr/>
        </p:nvSpPr>
        <p:spPr>
          <a:xfrm>
            <a:off x="180109" y="5153889"/>
            <a:ext cx="5226900" cy="1413300"/>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385623"/>
              </a:buClr>
              <a:buSzPct val="100000"/>
              <a:buFont typeface="Arial"/>
              <a:buNone/>
            </a:pPr>
            <a:r>
              <a:rPr lang="en-US" sz="2000" b="1" i="0" u="none" strike="noStrike" cap="none" dirty="0">
                <a:solidFill>
                  <a:srgbClr val="385623"/>
                </a:solidFill>
                <a:latin typeface="Cambria"/>
                <a:ea typeface="Cambria"/>
                <a:cs typeface="Cambria"/>
                <a:sym typeface="Cambria"/>
              </a:rPr>
              <a:t>BATCH MEMBER</a:t>
            </a:r>
            <a:endParaRPr sz="1400" b="0" i="0" u="none" strike="noStrike" cap="none" dirty="0">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rgbClr val="7030A0"/>
              </a:buClr>
              <a:buSzPct val="100000"/>
              <a:buFont typeface="Arial"/>
              <a:buNone/>
            </a:pPr>
            <a:r>
              <a:rPr lang="en-US" sz="1800" b="1" dirty="0">
                <a:solidFill>
                  <a:srgbClr val="7030A0"/>
                </a:solidFill>
                <a:latin typeface="Cambria"/>
                <a:ea typeface="Cambria"/>
                <a:sym typeface="Cambria"/>
              </a:rPr>
              <a:t>MONIKA N (7376232AD196)</a:t>
            </a:r>
            <a:endParaRPr sz="1400" b="0" i="0" u="none" strike="noStrike" cap="none" dirty="0">
              <a:solidFill>
                <a:srgbClr val="000000"/>
              </a:solidFill>
              <a:latin typeface="Arial"/>
              <a:ea typeface="Arial"/>
              <a:cs typeface="Arial"/>
              <a:sym typeface="Arial"/>
            </a:endParaRPr>
          </a:p>
          <a:p>
            <a:pPr marL="0" marR="0" lvl="0" indent="0" algn="ctr" rtl="0">
              <a:lnSpc>
                <a:spcPct val="90000"/>
              </a:lnSpc>
              <a:spcBef>
                <a:spcPts val="1000"/>
              </a:spcBef>
              <a:spcAft>
                <a:spcPts val="0"/>
              </a:spcAft>
              <a:buClr>
                <a:schemeClr val="dk1"/>
              </a:buClr>
              <a:buSzPct val="100000"/>
              <a:buFont typeface="Arial"/>
              <a:buNone/>
            </a:pPr>
            <a:endParaRPr sz="2400" b="1" i="0" u="none" strike="noStrike" cap="none" dirty="0">
              <a:solidFill>
                <a:srgbClr val="7030A0"/>
              </a:solidFill>
              <a:latin typeface="Cambria"/>
              <a:ea typeface="Cambria"/>
              <a:cs typeface="Cambria"/>
              <a:sym typeface="Cambria"/>
            </a:endParaRPr>
          </a:p>
          <a:p>
            <a:pPr marL="0" marR="0" lvl="0" indent="0" algn="ctr" rtl="0">
              <a:lnSpc>
                <a:spcPct val="90000"/>
              </a:lnSpc>
              <a:spcBef>
                <a:spcPts val="1000"/>
              </a:spcBef>
              <a:spcAft>
                <a:spcPts val="0"/>
              </a:spcAft>
              <a:buClr>
                <a:schemeClr val="dk1"/>
              </a:buClr>
              <a:buSzPct val="100000"/>
              <a:buFont typeface="Arial"/>
              <a:buNone/>
            </a:pPr>
            <a:endParaRPr sz="2400" b="1" i="0" u="none" strike="noStrike" cap="none" dirty="0">
              <a:solidFill>
                <a:schemeClr val="dk1"/>
              </a:solidFill>
              <a:latin typeface="Cambria"/>
              <a:ea typeface="Cambria"/>
              <a:cs typeface="Cambria"/>
              <a:sym typeface="Cambria"/>
            </a:endParaRPr>
          </a:p>
        </p:txBody>
      </p:sp>
      <p:sp>
        <p:nvSpPr>
          <p:cNvPr id="92" name="Google Shape;92;p1"/>
          <p:cNvSpPr txBox="1"/>
          <p:nvPr/>
        </p:nvSpPr>
        <p:spPr>
          <a:xfrm>
            <a:off x="6204650" y="5106763"/>
            <a:ext cx="5807241" cy="144090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ctr" rtl="0">
              <a:lnSpc>
                <a:spcPct val="90000"/>
              </a:lnSpc>
              <a:spcBef>
                <a:spcPts val="0"/>
              </a:spcBef>
              <a:spcAft>
                <a:spcPts val="0"/>
              </a:spcAft>
              <a:buClr>
                <a:srgbClr val="385623"/>
              </a:buClr>
              <a:buSzPts val="2000"/>
              <a:buFont typeface="Arial"/>
              <a:buNone/>
            </a:pPr>
            <a:r>
              <a:rPr lang="en-US" sz="2000" b="1" i="0" u="none" strike="noStrike" cap="none" dirty="0">
                <a:solidFill>
                  <a:srgbClr val="385623"/>
                </a:solidFill>
                <a:latin typeface="Cambria"/>
                <a:ea typeface="Cambria"/>
                <a:cs typeface="Cambria"/>
                <a:sym typeface="Cambria"/>
              </a:rPr>
              <a:t>GUIDE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ts val="1800"/>
              <a:buFont typeface="Arial"/>
              <a:buNone/>
            </a:pPr>
            <a:r>
              <a:rPr lang="en-US" sz="1800" b="1" dirty="0">
                <a:solidFill>
                  <a:srgbClr val="7030A0"/>
                </a:solidFill>
                <a:latin typeface="Cambria"/>
                <a:ea typeface="Cambria"/>
                <a:cs typeface="Cambria"/>
                <a:sym typeface="Cambria"/>
              </a:rPr>
              <a:t>Mr.</a:t>
            </a:r>
            <a:r>
              <a:rPr lang="en-US" sz="1800" b="1" i="0" u="none" strike="noStrike" cap="none" dirty="0">
                <a:solidFill>
                  <a:srgbClr val="7030A0"/>
                </a:solidFill>
                <a:latin typeface="Cambria"/>
                <a:ea typeface="Cambria"/>
                <a:cs typeface="Cambria"/>
                <a:sym typeface="Cambria"/>
              </a:rPr>
              <a:t> NAVANEETH KUMAR K</a:t>
            </a:r>
          </a:p>
          <a:p>
            <a:pPr marL="0" marR="0" lvl="0" indent="0" algn="ctr" rtl="0">
              <a:lnSpc>
                <a:spcPct val="100000"/>
              </a:lnSpc>
              <a:spcBef>
                <a:spcPts val="600"/>
              </a:spcBef>
              <a:spcAft>
                <a:spcPts val="0"/>
              </a:spcAft>
              <a:buClr>
                <a:srgbClr val="7030A0"/>
              </a:buClr>
              <a:buSzPts val="1800"/>
              <a:buFont typeface="Arial"/>
              <a:buNone/>
            </a:pPr>
            <a:r>
              <a:rPr lang="en-US" sz="1800" b="1" i="0" u="none" strike="noStrike" cap="none" dirty="0">
                <a:solidFill>
                  <a:srgbClr val="7030A0"/>
                </a:solidFill>
                <a:latin typeface="Cambria"/>
                <a:ea typeface="Cambria"/>
                <a:cs typeface="Cambria"/>
                <a:sym typeface="Cambria"/>
              </a:rPr>
              <a:t>ASSISTANT PROFESSOR III</a:t>
            </a:r>
            <a:endParaRPr lang="en-US" sz="1400" b="0" i="0" u="none" strike="noStrike" cap="none" dirty="0">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7030A0"/>
              </a:buClr>
              <a:buSzPts val="1800"/>
              <a:buFont typeface="Arial"/>
              <a:buNone/>
            </a:pPr>
            <a:r>
              <a:rPr lang="en-US" sz="1800" b="1" i="0" u="none" strike="noStrike" cap="none" dirty="0">
                <a:solidFill>
                  <a:srgbClr val="7030A0"/>
                </a:solidFill>
                <a:latin typeface="Cambria"/>
                <a:ea typeface="Cambria"/>
                <a:cs typeface="Cambria"/>
                <a:sym typeface="Cambria"/>
              </a:rPr>
              <a:t>DEPARTMENT OF ARTIFICIAL INTELLIGENCE AND DATA SCIENCE</a:t>
            </a:r>
            <a:endParaRPr lang="en-US" sz="2400" b="1" i="0" u="none" strike="noStrike" cap="none" dirty="0">
              <a:solidFill>
                <a:schemeClr val="dk1"/>
              </a:solidFill>
              <a:latin typeface="Cambria"/>
              <a:ea typeface="Cambria"/>
              <a:cs typeface="Cambria"/>
              <a:sym typeface="Cambria"/>
            </a:endParaRPr>
          </a:p>
        </p:txBody>
      </p:sp>
      <p:sp>
        <p:nvSpPr>
          <p:cNvPr id="93" name="Google Shape;93;p1"/>
          <p:cNvSpPr txBox="1"/>
          <p:nvPr/>
        </p:nvSpPr>
        <p:spPr>
          <a:xfrm>
            <a:off x="1446298" y="3994171"/>
            <a:ext cx="29373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Cambria"/>
                <a:ea typeface="Cambria"/>
                <a:cs typeface="Cambria"/>
                <a:sym typeface="Cambria"/>
              </a:rPr>
              <a:t>BIP PROJECT ID</a:t>
            </a:r>
            <a:endParaRPr sz="1400" b="0" i="0" u="none" strike="noStrike" cap="none" dirty="0">
              <a:solidFill>
                <a:srgbClr val="000000"/>
              </a:solidFill>
              <a:latin typeface="Arial"/>
              <a:ea typeface="Arial"/>
              <a:cs typeface="Arial"/>
              <a:sym typeface="Arial"/>
            </a:endParaRPr>
          </a:p>
          <a:p>
            <a:pPr lvl="0" algn="ctr">
              <a:buSzPts val="1800"/>
            </a:pPr>
            <a:r>
              <a:rPr lang="en-IN" sz="1800" b="1" dirty="0"/>
              <a:t>2026MIN1437</a:t>
            </a:r>
            <a:endParaRPr sz="1800" b="1" i="0" u="none" strike="noStrike" cap="none" dirty="0">
              <a:solidFill>
                <a:schemeClr val="dk1"/>
              </a:solidFill>
              <a:latin typeface="Cambria"/>
              <a:ea typeface="Cambria"/>
              <a:cs typeface="Cambria"/>
              <a:sym typeface="Cambria"/>
            </a:endParaRPr>
          </a:p>
        </p:txBody>
      </p:sp>
      <p:sp>
        <p:nvSpPr>
          <p:cNvPr id="94" name="Google Shape;94;p1"/>
          <p:cNvSpPr txBox="1"/>
          <p:nvPr/>
        </p:nvSpPr>
        <p:spPr>
          <a:xfrm>
            <a:off x="5666510" y="3970524"/>
            <a:ext cx="61377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2F5496"/>
                </a:solidFill>
                <a:latin typeface="Cambria"/>
                <a:ea typeface="Cambria"/>
                <a:cs typeface="Cambria"/>
                <a:sym typeface="Cambria"/>
              </a:rPr>
              <a:t>CATERGORY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rgbClr val="C00000"/>
                </a:solidFill>
                <a:latin typeface="Cambria"/>
                <a:ea typeface="Cambria"/>
                <a:cs typeface="Cambria"/>
                <a:sym typeface="Cambria"/>
              </a:rPr>
              <a:t>INTERNAL</a:t>
            </a:r>
            <a:endParaRPr sz="1800" b="1" i="0" u="none" strike="noStrike" cap="none" dirty="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4"/>
          <p:cNvSpPr txBox="1">
            <a:spLocks noGrp="1"/>
          </p:cNvSpPr>
          <p:nvPr>
            <p:ph type="body" idx="1"/>
          </p:nvPr>
        </p:nvSpPr>
        <p:spPr>
          <a:xfrm>
            <a:off x="218388" y="1126502"/>
            <a:ext cx="11755224" cy="4774677"/>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927100" lvl="1" algn="just">
              <a:lnSpc>
                <a:spcPct val="170000"/>
              </a:lnSpc>
              <a:buSzPts val="2000"/>
            </a:pPr>
            <a:r>
              <a:rPr lang="en-US" sz="1800" dirty="0"/>
              <a:t>The aim of this project is to develop a Training Recommendation System that provides personalized learning guidance for students and enables trainers to efficiently monitor and evaluate student progress. </a:t>
            </a:r>
          </a:p>
          <a:p>
            <a:pPr marL="927100" lvl="1" algn="just">
              <a:lnSpc>
                <a:spcPct val="170000"/>
              </a:lnSpc>
              <a:buSzPts val="2000"/>
            </a:pPr>
            <a:r>
              <a:rPr lang="en-US" sz="1800" dirty="0"/>
              <a:t>In many existing learning environments, students often lack structured guidance and personalized study plans, while trainers face difficulties in tracking individual performance and progress effectively. . </a:t>
            </a:r>
          </a:p>
          <a:p>
            <a:pPr marL="927100" lvl="1" algn="just">
              <a:lnSpc>
                <a:spcPct val="170000"/>
              </a:lnSpc>
              <a:buSzPts val="2000"/>
            </a:pPr>
            <a:r>
              <a:rPr lang="en-US" sz="1800" dirty="0"/>
              <a:t>The system also includes an OCR module to extract and simplify text from images, along with a self-evaluation MCQ test section for assessing knowledge and performance. Additionally, students can manage their profiles, and trainers are provided with tools to track student progress, marks, and overall performance. </a:t>
            </a:r>
          </a:p>
          <a:p>
            <a:pPr marL="927100" lvl="1" algn="just">
              <a:lnSpc>
                <a:spcPct val="170000"/>
              </a:lnSpc>
              <a:buSzPts val="2000"/>
            </a:pPr>
            <a:r>
              <a:rPr lang="en-US" sz="1800" dirty="0"/>
              <a:t>The application is developed using HTML, CSS, and JavaScript for the frontend, Python Flask for the backend, and MySQL for database management, ensuring a complete and user-friendly solution.</a:t>
            </a:r>
          </a:p>
        </p:txBody>
      </p:sp>
      <p:sp>
        <p:nvSpPr>
          <p:cNvPr id="100" name="Google Shape;10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US" sz="1800" b="1" dirty="0">
                <a:solidFill>
                  <a:srgbClr val="385623"/>
                </a:solidFill>
              </a:rPr>
              <a:t>21-04-2026</a:t>
            </a:r>
            <a:endParaRPr sz="1800" b="1" dirty="0">
              <a:solidFill>
                <a:srgbClr val="385623"/>
              </a:solidFill>
            </a:endParaRPr>
          </a:p>
        </p:txBody>
      </p:sp>
      <p:sp>
        <p:nvSpPr>
          <p:cNvPr id="101" name="Google Shape;10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rgbClr val="385623"/>
                </a:solidFill>
              </a:rPr>
              <a:t>FINAL REVIEW PRESENTATION</a:t>
            </a:r>
            <a:endParaRPr sz="1800" b="1" dirty="0">
              <a:solidFill>
                <a:srgbClr val="385623"/>
              </a:solidFill>
            </a:endParaRPr>
          </a:p>
        </p:txBody>
      </p:sp>
      <p:sp>
        <p:nvSpPr>
          <p:cNvPr id="102" name="Google Shape;10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2</a:t>
            </a:fld>
            <a:endParaRPr sz="1800" b="1">
              <a:solidFill>
                <a:srgbClr val="385623"/>
              </a:solidFill>
            </a:endParaRPr>
          </a:p>
        </p:txBody>
      </p:sp>
      <p:sp>
        <p:nvSpPr>
          <p:cNvPr id="103" name="Google Shape;103;p4"/>
          <p:cNvSpPr txBox="1">
            <a:spLocks noGrp="1"/>
          </p:cNvSpPr>
          <p:nvPr>
            <p:ph type="title"/>
          </p:nvPr>
        </p:nvSpPr>
        <p:spPr>
          <a:xfrm>
            <a:off x="838200" y="240434"/>
            <a:ext cx="10515600" cy="57698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AIM &amp; OBJECTIVES OF THE PROJECT </a:t>
            </a:r>
            <a:br>
              <a:rPr lang="en-US" sz="2400" b="1" dirty="0">
                <a:solidFill>
                  <a:srgbClr val="2F5496"/>
                </a:solidFill>
                <a:latin typeface="Cambria"/>
                <a:ea typeface="Cambria"/>
                <a:cs typeface="Cambria"/>
                <a:sym typeface="Cambria"/>
              </a:rPr>
            </a:br>
            <a:r>
              <a:rPr lang="en-US" sz="2400" b="1" dirty="0">
                <a:solidFill>
                  <a:srgbClr val="2F5496"/>
                </a:solidFill>
                <a:latin typeface="Cambria"/>
                <a:ea typeface="Cambria"/>
                <a:cs typeface="Cambria"/>
                <a:sym typeface="Cambria"/>
              </a:rPr>
              <a:t>(Problem Statement)</a:t>
            </a:r>
            <a:endParaRPr sz="2400" b="1" dirty="0">
              <a:solidFill>
                <a:srgbClr val="2F5496"/>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
          <p:cNvSpPr txBox="1">
            <a:spLocks noGrp="1"/>
          </p:cNvSpPr>
          <p:nvPr>
            <p:ph type="title"/>
          </p:nvPr>
        </p:nvSpPr>
        <p:spPr>
          <a:xfrm>
            <a:off x="838200" y="240435"/>
            <a:ext cx="10515600" cy="27039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US" sz="3600" b="1" dirty="0">
                <a:solidFill>
                  <a:srgbClr val="2F5496"/>
                </a:solidFill>
                <a:latin typeface="Cambria"/>
                <a:ea typeface="Cambria"/>
                <a:cs typeface="Cambria"/>
                <a:sym typeface="Cambria"/>
              </a:rPr>
              <a:t>LITERATURE SURVEY </a:t>
            </a:r>
            <a:endParaRPr sz="3600" b="1" dirty="0">
              <a:solidFill>
                <a:srgbClr val="2F5496"/>
              </a:solidFill>
              <a:latin typeface="Cambria"/>
              <a:ea typeface="Cambria"/>
              <a:cs typeface="Cambria"/>
              <a:sym typeface="Cambria"/>
            </a:endParaRPr>
          </a:p>
        </p:txBody>
      </p:sp>
      <p:sp>
        <p:nvSpPr>
          <p:cNvPr id="109" name="Google Shape;10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dirty="0">
                <a:solidFill>
                  <a:srgbClr val="0070C0"/>
                </a:solidFill>
                <a:latin typeface="Arial"/>
                <a:ea typeface="Arial"/>
                <a:cs typeface="Arial"/>
                <a:sym typeface="Arial"/>
              </a:rPr>
              <a:t>21-04-2026</a:t>
            </a:r>
            <a:endParaRPr sz="1800" dirty="0">
              <a:solidFill>
                <a:srgbClr val="0070C0"/>
              </a:solidFill>
              <a:latin typeface="Arial"/>
              <a:ea typeface="Arial"/>
              <a:cs typeface="Arial"/>
              <a:sym typeface="Arial"/>
            </a:endParaRPr>
          </a:p>
        </p:txBody>
      </p:sp>
      <p:sp>
        <p:nvSpPr>
          <p:cNvPr id="110" name="Google Shape;110;p2"/>
          <p:cNvSpPr txBox="1">
            <a:spLocks noGrp="1"/>
          </p:cNvSpPr>
          <p:nvPr>
            <p:ph type="ftr" idx="11"/>
          </p:nvPr>
        </p:nvSpPr>
        <p:spPr>
          <a:xfrm>
            <a:off x="4246421"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dirty="0">
                <a:solidFill>
                  <a:srgbClr val="0070C0"/>
                </a:solidFill>
                <a:latin typeface="Cambria"/>
                <a:ea typeface="Cambria"/>
                <a:cs typeface="Cambria"/>
                <a:sym typeface="Cambria"/>
              </a:rPr>
              <a:t>FINAL REVIEW PRESENTATION</a:t>
            </a:r>
            <a:endParaRPr sz="1800" dirty="0">
              <a:solidFill>
                <a:srgbClr val="0070C0"/>
              </a:solidFill>
              <a:latin typeface="Cambria"/>
              <a:ea typeface="Cambria"/>
              <a:cs typeface="Cambria"/>
              <a:sym typeface="Cambria"/>
            </a:endParaRPr>
          </a:p>
        </p:txBody>
      </p:sp>
      <p:sp>
        <p:nvSpPr>
          <p:cNvPr id="111" name="Google Shape;11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a:solidFill>
                  <a:srgbClr val="0070C0"/>
                </a:solidFill>
              </a:rPr>
              <a:t>3</a:t>
            </a:fld>
            <a:endParaRPr sz="1800">
              <a:solidFill>
                <a:srgbClr val="0070C0"/>
              </a:solidFill>
            </a:endParaRPr>
          </a:p>
        </p:txBody>
      </p:sp>
      <p:graphicFrame>
        <p:nvGraphicFramePr>
          <p:cNvPr id="112" name="Google Shape;112;p2"/>
          <p:cNvGraphicFramePr/>
          <p:nvPr>
            <p:extLst>
              <p:ext uri="{D42A27DB-BD31-4B8C-83A1-F6EECF244321}">
                <p14:modId xmlns:p14="http://schemas.microsoft.com/office/powerpoint/2010/main" val="1459422640"/>
              </p:ext>
            </p:extLst>
          </p:nvPr>
        </p:nvGraphicFramePr>
        <p:xfrm>
          <a:off x="304800" y="620948"/>
          <a:ext cx="11686672" cy="5745461"/>
        </p:xfrm>
        <a:graphic>
          <a:graphicData uri="http://schemas.openxmlformats.org/drawingml/2006/table">
            <a:tbl>
              <a:tblPr firstRow="1" bandRow="1">
                <a:noFill/>
                <a:tableStyleId>{8FB85C19-A433-4D10-9EDC-B45DD99064DA}</a:tableStyleId>
              </a:tblPr>
              <a:tblGrid>
                <a:gridCol w="850778">
                  <a:extLst>
                    <a:ext uri="{9D8B030D-6E8A-4147-A177-3AD203B41FA5}">
                      <a16:colId xmlns:a16="http://schemas.microsoft.com/office/drawing/2014/main" val="20000"/>
                    </a:ext>
                  </a:extLst>
                </a:gridCol>
                <a:gridCol w="4992558">
                  <a:extLst>
                    <a:ext uri="{9D8B030D-6E8A-4147-A177-3AD203B41FA5}">
                      <a16:colId xmlns:a16="http://schemas.microsoft.com/office/drawing/2014/main" val="20001"/>
                    </a:ext>
                  </a:extLst>
                </a:gridCol>
                <a:gridCol w="3191768">
                  <a:extLst>
                    <a:ext uri="{9D8B030D-6E8A-4147-A177-3AD203B41FA5}">
                      <a16:colId xmlns:a16="http://schemas.microsoft.com/office/drawing/2014/main" val="20002"/>
                    </a:ext>
                  </a:extLst>
                </a:gridCol>
                <a:gridCol w="2651568">
                  <a:extLst>
                    <a:ext uri="{9D8B030D-6E8A-4147-A177-3AD203B41FA5}">
                      <a16:colId xmlns:a16="http://schemas.microsoft.com/office/drawing/2014/main" val="20003"/>
                    </a:ext>
                  </a:extLst>
                </a:gridCol>
              </a:tblGrid>
              <a:tr h="1417736">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Sl.No.</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Journal Paper Title with Author </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Works carried out  </a:t>
                      </a:r>
                      <a:endParaRPr sz="1400" u="none" strike="noStrike" cap="none"/>
                    </a:p>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 with details of Methods/ Materials/ Software/ Algorithms / fabrication / techniques/ components used ) </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Information gathered relevant to your project</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974697">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1</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J. Smith and A. Kumar, “Personalized Learning Systems Using Machine Learning,” </a:t>
                      </a:r>
                      <a:r>
                        <a:rPr lang="en-US" sz="1500" i="1" dirty="0"/>
                        <a:t>IEEE Transactions on Education</a:t>
                      </a:r>
                      <a:r>
                        <a:rPr lang="en-US" sz="1500" dirty="0"/>
                        <a:t>, vol. 62, no. 4, pp. 300–308, 2019.</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Used machine learning algorithms to recommend personalized learning paths based on student behavior and performance data.</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Helped in designing a system that suggests customized learning roadmaps for students.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795127">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2</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R. Patel et al., “Web-Based Student Monitoring System,” </a:t>
                      </a:r>
                      <a:r>
                        <a:rPr lang="en-US" sz="1500" i="1" dirty="0"/>
                        <a:t>International Journal of Computer Applications</a:t>
                      </a:r>
                      <a:r>
                        <a:rPr lang="en-US" sz="1500" dirty="0"/>
                        <a:t>, vol. 180, no. 12, 2018.</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Developed a web application to track student progress, attendance, and performance.</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Provided ideas for trainer dashboard and progress tracking features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r h="881214">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3</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M. Brown and L. Davis, “Secure Authentication Using JWT,” </a:t>
                      </a:r>
                      <a:r>
                        <a:rPr lang="en-US" sz="1500" i="1" dirty="0"/>
                        <a:t>IEEE Security &amp; Privacy</a:t>
                      </a:r>
                      <a:r>
                        <a:rPr lang="en-US" sz="1500" dirty="0"/>
                        <a:t>, vol. 17, no. 3, pp. 45–52, 2020.</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Implemented JWT-based authentication for secure login systems.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Used for implementing secure login and session management in the project.</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3"/>
                  </a:ext>
                </a:extLst>
              </a:tr>
              <a:tr h="753177">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4</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500" dirty="0"/>
                        <a:t>S. Lee, “Optical Character Recognition Techniques for Text Extraction,” </a:t>
                      </a:r>
                      <a:r>
                        <a:rPr lang="en-IN" sz="1500" i="1" dirty="0"/>
                        <a:t>Pattern Recognition Journal</a:t>
                      </a:r>
                      <a:r>
                        <a:rPr lang="en-IN" sz="1500" dirty="0"/>
                        <a:t>, vol. 95, pp. 20–30, 2019.</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Explored OCR algorithms for extracting text from images.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Helped in integrating OCR module for extracting and displaying text.</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4"/>
                  </a:ext>
                </a:extLst>
              </a:tr>
              <a:tr h="797481">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5</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K. Sharma and P. Gupta, “Online Quiz Systems for Student Evaluation,” </a:t>
                      </a:r>
                      <a:r>
                        <a:rPr lang="en-US" sz="1500" i="1" dirty="0"/>
                        <a:t>International Journal of Education Technology</a:t>
                      </a:r>
                      <a:r>
                        <a:rPr lang="en-US" sz="1500" dirty="0"/>
                        <a:t>, 2021.</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500" dirty="0"/>
                        <a:t>Developed MCQ-based testing system with automatic scoring.</a:t>
                      </a: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Used for designing self-evaluation quiz feature.</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3"/>
          <p:cNvSpPr txBox="1">
            <a:spLocks noGrp="1"/>
          </p:cNvSpPr>
          <p:nvPr>
            <p:ph type="title"/>
          </p:nvPr>
        </p:nvSpPr>
        <p:spPr>
          <a:xfrm>
            <a:off x="838200" y="240435"/>
            <a:ext cx="10515600" cy="270394"/>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F5496"/>
              </a:buClr>
              <a:buSzPct val="100000"/>
              <a:buFont typeface="Cambria"/>
              <a:buNone/>
            </a:pPr>
            <a:r>
              <a:rPr lang="en-US" sz="3600" b="1">
                <a:solidFill>
                  <a:srgbClr val="2F5496"/>
                </a:solidFill>
                <a:latin typeface="Cambria"/>
                <a:ea typeface="Cambria"/>
                <a:cs typeface="Cambria"/>
                <a:sym typeface="Cambria"/>
              </a:rPr>
              <a:t>LITERATURE SURVEY </a:t>
            </a:r>
            <a:endParaRPr sz="3600" b="1">
              <a:solidFill>
                <a:srgbClr val="2F5496"/>
              </a:solidFill>
              <a:latin typeface="Cambria"/>
              <a:ea typeface="Cambria"/>
              <a:cs typeface="Cambria"/>
              <a:sym typeface="Cambria"/>
            </a:endParaRPr>
          </a:p>
        </p:txBody>
      </p:sp>
      <p:sp>
        <p:nvSpPr>
          <p:cNvPr id="118" name="Google Shape;1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dirty="0">
                <a:solidFill>
                  <a:srgbClr val="0070C0"/>
                </a:solidFill>
                <a:latin typeface="Arial"/>
                <a:ea typeface="Arial"/>
                <a:cs typeface="Arial"/>
                <a:sym typeface="Arial"/>
              </a:rPr>
              <a:t>21-04-2026</a:t>
            </a:r>
            <a:endParaRPr sz="1800" dirty="0">
              <a:solidFill>
                <a:srgbClr val="0070C0"/>
              </a:solidFill>
              <a:latin typeface="Arial"/>
              <a:ea typeface="Arial"/>
              <a:cs typeface="Arial"/>
              <a:sym typeface="Arial"/>
            </a:endParaRPr>
          </a:p>
        </p:txBody>
      </p:sp>
      <p:sp>
        <p:nvSpPr>
          <p:cNvPr id="119" name="Google Shape;119;p3"/>
          <p:cNvSpPr txBox="1">
            <a:spLocks noGrp="1"/>
          </p:cNvSpPr>
          <p:nvPr>
            <p:ph type="ftr" idx="11"/>
          </p:nvPr>
        </p:nvSpPr>
        <p:spPr>
          <a:xfrm>
            <a:off x="4246421"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dirty="0">
                <a:solidFill>
                  <a:srgbClr val="0070C0"/>
                </a:solidFill>
                <a:latin typeface="Cambria"/>
                <a:ea typeface="Cambria"/>
                <a:cs typeface="Cambria"/>
                <a:sym typeface="Cambria"/>
              </a:rPr>
              <a:t>FINAL REVIEW PRESENTATION</a:t>
            </a:r>
            <a:endParaRPr sz="1800" dirty="0">
              <a:solidFill>
                <a:srgbClr val="0070C0"/>
              </a:solidFill>
              <a:latin typeface="Cambria"/>
              <a:ea typeface="Cambria"/>
              <a:cs typeface="Cambria"/>
              <a:sym typeface="Cambria"/>
            </a:endParaRPr>
          </a:p>
        </p:txBody>
      </p:sp>
      <p:sp>
        <p:nvSpPr>
          <p:cNvPr id="120" name="Google Shape;1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a:solidFill>
                  <a:srgbClr val="0070C0"/>
                </a:solidFill>
              </a:rPr>
              <a:t>4</a:t>
            </a:fld>
            <a:endParaRPr sz="1800">
              <a:solidFill>
                <a:srgbClr val="0070C0"/>
              </a:solidFill>
            </a:endParaRPr>
          </a:p>
        </p:txBody>
      </p:sp>
      <p:graphicFrame>
        <p:nvGraphicFramePr>
          <p:cNvPr id="121" name="Google Shape;121;p3"/>
          <p:cNvGraphicFramePr/>
          <p:nvPr>
            <p:extLst>
              <p:ext uri="{D42A27DB-BD31-4B8C-83A1-F6EECF244321}">
                <p14:modId xmlns:p14="http://schemas.microsoft.com/office/powerpoint/2010/main" val="117475195"/>
              </p:ext>
            </p:extLst>
          </p:nvPr>
        </p:nvGraphicFramePr>
        <p:xfrm>
          <a:off x="637487" y="594330"/>
          <a:ext cx="10917025" cy="5669340"/>
        </p:xfrm>
        <a:graphic>
          <a:graphicData uri="http://schemas.openxmlformats.org/drawingml/2006/table">
            <a:tbl>
              <a:tblPr firstRow="1" bandRow="1">
                <a:noFill/>
                <a:tableStyleId>{8FB85C19-A433-4D10-9EDC-B45DD99064DA}</a:tableStyleId>
              </a:tblPr>
              <a:tblGrid>
                <a:gridCol w="793536">
                  <a:extLst>
                    <a:ext uri="{9D8B030D-6E8A-4147-A177-3AD203B41FA5}">
                      <a16:colId xmlns:a16="http://schemas.microsoft.com/office/drawing/2014/main" val="20000"/>
                    </a:ext>
                  </a:extLst>
                </a:gridCol>
                <a:gridCol w="4664977">
                  <a:extLst>
                    <a:ext uri="{9D8B030D-6E8A-4147-A177-3AD203B41FA5}">
                      <a16:colId xmlns:a16="http://schemas.microsoft.com/office/drawing/2014/main" val="20001"/>
                    </a:ext>
                  </a:extLst>
                </a:gridCol>
                <a:gridCol w="2729256">
                  <a:extLst>
                    <a:ext uri="{9D8B030D-6E8A-4147-A177-3AD203B41FA5}">
                      <a16:colId xmlns:a16="http://schemas.microsoft.com/office/drawing/2014/main" val="20002"/>
                    </a:ext>
                  </a:extLst>
                </a:gridCol>
                <a:gridCol w="2729256">
                  <a:extLst>
                    <a:ext uri="{9D8B030D-6E8A-4147-A177-3AD203B41FA5}">
                      <a16:colId xmlns:a16="http://schemas.microsoft.com/office/drawing/2014/main" val="20003"/>
                    </a:ext>
                  </a:extLst>
                </a:gridCol>
              </a:tblGrid>
              <a:tr h="1482616">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Sl.No.</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References</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 Journal Papers Only)</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Works carried out  </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US" sz="1800" b="1" u="none" strike="noStrike" cap="none" dirty="0">
                          <a:solidFill>
                            <a:schemeClr val="dk1"/>
                          </a:solidFill>
                        </a:rPr>
                        <a:t>( with details of Methods/ Materials/ Software/ Algorithms / fabrication / techniques/ components used ) </a:t>
                      </a:r>
                      <a:endParaRPr sz="18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chemeClr val="dk1"/>
                          </a:solidFill>
                        </a:rPr>
                        <a:t>Information gathered relevant to your project</a:t>
                      </a:r>
                      <a:endParaRPr sz="1800" b="1"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6</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T. Anderson, “Flask-Based Web Application Development,” </a:t>
                      </a:r>
                      <a:r>
                        <a:rPr lang="en-US" sz="1500" i="1" dirty="0"/>
                        <a:t>Journal of Web Engineering</a:t>
                      </a:r>
                      <a:r>
                        <a:rPr lang="en-US" sz="1500" dirty="0"/>
                        <a:t>, vol. 15, no. 2, 2018.</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Explained backend development using Flask framework and REST APIs.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500" dirty="0"/>
                        <a:t>Guided backend implementation and API routing.</a:t>
                      </a:r>
                    </a:p>
                    <a:p>
                      <a:pPr marL="0" marR="0" lvl="0" indent="0" algn="l" rtl="0">
                        <a:lnSpc>
                          <a:spcPct val="100000"/>
                        </a:lnSpc>
                        <a:spcBef>
                          <a:spcPts val="0"/>
                        </a:spcBef>
                        <a:spcAft>
                          <a:spcPts val="0"/>
                        </a:spcAft>
                        <a:buClr>
                          <a:srgbClr val="000000"/>
                        </a:buClr>
                        <a:buSzPts val="1800"/>
                        <a:buFont typeface="Arial"/>
                        <a:buNone/>
                      </a:pP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1"/>
                  </a:ext>
                </a:extLst>
              </a:tr>
              <a:tr h="6250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7</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D. Wilson et al., “Database Design Using MySQL for Web Applications,” </a:t>
                      </a:r>
                      <a:r>
                        <a:rPr lang="en-US" sz="1500" i="1" dirty="0"/>
                        <a:t>International Journal of Database Systems</a:t>
                      </a:r>
                      <a:r>
                        <a:rPr lang="en-US" sz="1500" dirty="0"/>
                        <a:t>, 2019</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Discussed relational database design and data management.</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Helped in structuring user data, profiles, and results storage.</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solidFill>
                            <a:schemeClr val="dk1"/>
                          </a:solidFill>
                        </a:rPr>
                        <a:t>8</a:t>
                      </a:r>
                      <a:endParaRPr sz="1800"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500" dirty="0"/>
                        <a:t>A. Roy, “User Interface Design for Educational Platforms,” </a:t>
                      </a:r>
                      <a:r>
                        <a:rPr lang="en-US" sz="1500" i="1" dirty="0"/>
                        <a:t>Human-Computer Interaction Journal</a:t>
                      </a:r>
                      <a:r>
                        <a:rPr lang="en-US" sz="1500" dirty="0"/>
                        <a:t>, 2020.</a:t>
                      </a: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Focused on UI/UX principles for student-friendly dashboards.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500" dirty="0"/>
                        <a:t>Used to design simple and user-friendly interface.</a:t>
                      </a:r>
                    </a:p>
                    <a:p>
                      <a:pPr marL="0" marR="0" lvl="0" indent="0" algn="l" rtl="0">
                        <a:lnSpc>
                          <a:spcPct val="100000"/>
                        </a:lnSpc>
                        <a:spcBef>
                          <a:spcPts val="0"/>
                        </a:spcBef>
                        <a:spcAft>
                          <a:spcPts val="0"/>
                        </a:spcAft>
                        <a:buClr>
                          <a:srgbClr val="000000"/>
                        </a:buClr>
                        <a:buSzPts val="1800"/>
                        <a:buFont typeface="Arial"/>
                        <a:buNone/>
                      </a:pP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3"/>
                  </a:ext>
                </a:extLst>
              </a:tr>
              <a:tr h="6250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9</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P. Singh and R. Mehta, “E-Learning Systems with Personalized Recommendations,” </a:t>
                      </a:r>
                      <a:r>
                        <a:rPr lang="en-US" sz="1500" i="1" dirty="0"/>
                        <a:t>IEEE Access</a:t>
                      </a:r>
                      <a:r>
                        <a:rPr lang="en-US" sz="1500" dirty="0"/>
                        <a:t>, vol. 8, pp. 150000–150010, 2020.</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Used recommendation techniques to improve learning efficiency.</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Inspired personalized course and roadmap generation.</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4"/>
                  </a:ext>
                </a:extLst>
              </a:tr>
              <a:tr h="62500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rPr>
                        <a:t>10</a:t>
                      </a:r>
                      <a:endParaRPr sz="18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500" dirty="0"/>
                        <a:t>L. Chen, “REST API Testing Using Postman,” </a:t>
                      </a:r>
                      <a:r>
                        <a:rPr lang="en-US" sz="1500" i="1" dirty="0"/>
                        <a:t>Software Testing Journal</a:t>
                      </a:r>
                      <a:r>
                        <a:rPr lang="en-US" sz="1500" dirty="0"/>
                        <a:t>, 2021.</a:t>
                      </a:r>
                    </a:p>
                    <a:p>
                      <a:pPr marL="0" marR="0" lvl="0" indent="0" algn="l" rtl="0">
                        <a:lnSpc>
                          <a:spcPct val="100000"/>
                        </a:lnSpc>
                        <a:spcBef>
                          <a:spcPts val="0"/>
                        </a:spcBef>
                        <a:spcAft>
                          <a:spcPts val="0"/>
                        </a:spcAft>
                        <a:buClr>
                          <a:srgbClr val="000000"/>
                        </a:buClr>
                        <a:buSzPts val="1800"/>
                        <a:buFont typeface="Arial"/>
                        <a:buNone/>
                      </a:pP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Demonstrated API testing and debugging techniques</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500" dirty="0"/>
                        <a:t>Helped in testing backend APIs effectively using Postman.</a:t>
                      </a:r>
                      <a:endParaRPr sz="15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BD6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fontScale="92500"/>
          </a:bodyPr>
          <a:lstStyle/>
          <a:p>
            <a:pPr>
              <a:lnSpc>
                <a:spcPct val="150000"/>
              </a:lnSpc>
            </a:pPr>
            <a:r>
              <a:rPr lang="en-US" sz="2200" b="1" dirty="0">
                <a:solidFill>
                  <a:schemeClr val="accent1">
                    <a:lumMod val="75000"/>
                  </a:schemeClr>
                </a:solidFill>
              </a:rPr>
              <a:t>SYSTEM PURPOSE:</a:t>
            </a:r>
            <a:r>
              <a:rPr lang="en-US" sz="2200" dirty="0">
                <a:solidFill>
                  <a:schemeClr val="accent1">
                    <a:lumMod val="75000"/>
                  </a:schemeClr>
                </a:solidFill>
              </a:rPr>
              <a:t> </a:t>
            </a:r>
            <a:r>
              <a:rPr lang="en-US" sz="2000" dirty="0"/>
              <a:t>The project aims to develop a web-based Training Recommendation System that provides personalized learning guidance and supports trainers in monitoring student progress.</a:t>
            </a:r>
          </a:p>
          <a:p>
            <a:pPr>
              <a:lnSpc>
                <a:spcPct val="150000"/>
              </a:lnSpc>
            </a:pPr>
            <a:r>
              <a:rPr lang="en-US" sz="2200" b="1" dirty="0">
                <a:solidFill>
                  <a:schemeClr val="accent1">
                    <a:lumMod val="75000"/>
                  </a:schemeClr>
                </a:solidFill>
              </a:rPr>
              <a:t>USER MANAGEMENT &amp; SECURITY:</a:t>
            </a:r>
            <a:r>
              <a:rPr lang="en-US" sz="2200" dirty="0">
                <a:solidFill>
                  <a:schemeClr val="accent1">
                    <a:lumMod val="75000"/>
                  </a:schemeClr>
                </a:solidFill>
              </a:rPr>
              <a:t> </a:t>
            </a:r>
            <a:r>
              <a:rPr lang="en-US" sz="2000" dirty="0"/>
              <a:t>The system includes secure login and registration with password hashing and JWT authentication, along with student profile management.</a:t>
            </a:r>
          </a:p>
          <a:p>
            <a:pPr>
              <a:lnSpc>
                <a:spcPct val="150000"/>
              </a:lnSpc>
            </a:pPr>
            <a:r>
              <a:rPr lang="en-US" sz="2200" b="1" dirty="0">
                <a:solidFill>
                  <a:schemeClr val="accent1">
                    <a:lumMod val="75000"/>
                  </a:schemeClr>
                </a:solidFill>
              </a:rPr>
              <a:t>STUDENT FEATURES:</a:t>
            </a:r>
            <a:r>
              <a:rPr lang="en-US" sz="2200" dirty="0">
                <a:solidFill>
                  <a:schemeClr val="accent1">
                    <a:lumMod val="75000"/>
                  </a:schemeClr>
                </a:solidFill>
              </a:rPr>
              <a:t> </a:t>
            </a:r>
            <a:r>
              <a:rPr lang="en-US" sz="2000" dirty="0"/>
              <a:t>Students are provided with a dashboard displaying course details, learning goals, daily roadmap generation, MCQ-based self-evaluation, and an OCR module for text extraction.</a:t>
            </a:r>
          </a:p>
          <a:p>
            <a:pPr>
              <a:lnSpc>
                <a:spcPct val="150000"/>
              </a:lnSpc>
            </a:pPr>
            <a:r>
              <a:rPr lang="en-US" sz="2200" b="1" dirty="0">
                <a:solidFill>
                  <a:schemeClr val="accent1">
                    <a:lumMod val="75000"/>
                  </a:schemeClr>
                </a:solidFill>
              </a:rPr>
              <a:t>TRAINER FEATURES:</a:t>
            </a:r>
            <a:r>
              <a:rPr lang="en-US" sz="2200" dirty="0">
                <a:solidFill>
                  <a:schemeClr val="accent1">
                    <a:lumMod val="75000"/>
                  </a:schemeClr>
                </a:solidFill>
              </a:rPr>
              <a:t> </a:t>
            </a:r>
            <a:r>
              <a:rPr lang="en-US" sz="2000" dirty="0"/>
              <a:t>Trainers can monitor student progress, track marks, and analyze overall performance effectively.</a:t>
            </a:r>
          </a:p>
          <a:p>
            <a:pPr>
              <a:lnSpc>
                <a:spcPct val="150000"/>
              </a:lnSpc>
            </a:pPr>
            <a:r>
              <a:rPr lang="en-US" sz="2200" b="1" dirty="0">
                <a:solidFill>
                  <a:schemeClr val="accent1">
                    <a:lumMod val="75000"/>
                  </a:schemeClr>
                </a:solidFill>
              </a:rPr>
              <a:t>TECHNOLOGY SCOPE:</a:t>
            </a:r>
            <a:r>
              <a:rPr lang="en-US" sz="2200" dirty="0">
                <a:solidFill>
                  <a:schemeClr val="accent1">
                    <a:lumMod val="75000"/>
                  </a:schemeClr>
                </a:solidFill>
              </a:rPr>
              <a:t> </a:t>
            </a:r>
            <a:r>
              <a:rPr lang="en-US" sz="2000" dirty="0"/>
              <a:t>The application is developed using HTML, CSS, and JavaScript for the frontend, Python Flask for the backend, and MySQL for database management.</a:t>
            </a:r>
          </a:p>
        </p:txBody>
      </p:sp>
      <p:sp>
        <p:nvSpPr>
          <p:cNvPr id="127" name="Google Shape;12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a:solidFill>
                  <a:srgbClr val="385623"/>
                </a:solidFill>
              </a:rPr>
              <a:t>21-04-2026</a:t>
            </a:r>
            <a:endParaRPr sz="1800" b="1" dirty="0">
              <a:solidFill>
                <a:srgbClr val="385623"/>
              </a:solidFill>
            </a:endParaRPr>
          </a:p>
        </p:txBody>
      </p:sp>
      <p:sp>
        <p:nvSpPr>
          <p:cNvPr id="128" name="Google Shape;12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rgbClr val="385623"/>
                </a:solidFill>
              </a:rPr>
              <a:t>FINAL REVIEW PRESENTATION</a:t>
            </a:r>
            <a:endParaRPr sz="1800" b="1" dirty="0">
              <a:solidFill>
                <a:srgbClr val="385623"/>
              </a:solidFill>
            </a:endParaRPr>
          </a:p>
        </p:txBody>
      </p:sp>
      <p:sp>
        <p:nvSpPr>
          <p:cNvPr id="129" name="Google Shape;12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rgbClr val="385623"/>
                </a:solidFill>
              </a:rPr>
              <a:t>5</a:t>
            </a:fld>
            <a:endParaRPr sz="1800" b="1">
              <a:solidFill>
                <a:srgbClr val="385623"/>
              </a:solidFill>
            </a:endParaRPr>
          </a:p>
        </p:txBody>
      </p:sp>
      <p:sp>
        <p:nvSpPr>
          <p:cNvPr id="130" name="Google Shape;130;p5"/>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SCOPE OF THE PROJECT</a:t>
            </a:r>
            <a:endParaRPr sz="2400" b="1" dirty="0">
              <a:solidFill>
                <a:srgbClr val="2F5496"/>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21-04-2026</a:t>
            </a:r>
            <a:endParaRPr dirty="0"/>
          </a:p>
        </p:txBody>
      </p:sp>
      <p:sp>
        <p:nvSpPr>
          <p:cNvPr id="146" name="Google Shape;14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147" name="Google Shape;14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48" name="Google Shape;148;p9"/>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PROPOSED METHODOLOGY ( Flow Chart) </a:t>
            </a:r>
            <a:endParaRPr sz="2400" b="1" dirty="0">
              <a:solidFill>
                <a:srgbClr val="2F5496"/>
              </a:solidFill>
              <a:latin typeface="Cambria"/>
              <a:ea typeface="Cambria"/>
              <a:cs typeface="Cambria"/>
              <a:sym typeface="Cambria"/>
            </a:endParaRPr>
          </a:p>
        </p:txBody>
      </p:sp>
      <p:pic>
        <p:nvPicPr>
          <p:cNvPr id="3" name="Picture 2">
            <a:extLst>
              <a:ext uri="{FF2B5EF4-FFF2-40B4-BE49-F238E27FC236}">
                <a16:creationId xmlns:a16="http://schemas.microsoft.com/office/drawing/2014/main" id="{6B35257A-F8EF-4CDB-83E6-F52EA89B1EB8}"/>
              </a:ext>
            </a:extLst>
          </p:cNvPr>
          <p:cNvPicPr>
            <a:picLocks noChangeAspect="1"/>
          </p:cNvPicPr>
          <p:nvPr/>
        </p:nvPicPr>
        <p:blipFill>
          <a:blip r:embed="rId3"/>
          <a:stretch>
            <a:fillRect/>
          </a:stretch>
        </p:blipFill>
        <p:spPr>
          <a:xfrm>
            <a:off x="2658357" y="737719"/>
            <a:ext cx="6551629" cy="53825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21-04-2026</a:t>
            </a:r>
            <a:endParaRPr dirty="0"/>
          </a:p>
        </p:txBody>
      </p:sp>
      <p:sp>
        <p:nvSpPr>
          <p:cNvPr id="154" name="Google Shape;15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56" name="Google Shape;156;p10"/>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PROPOSED METHODOLOGY ( Gantt Chart) </a:t>
            </a:r>
            <a:endParaRPr sz="2400" b="1" dirty="0">
              <a:solidFill>
                <a:srgbClr val="2F5496"/>
              </a:solidFill>
              <a:latin typeface="Cambria"/>
              <a:ea typeface="Cambria"/>
              <a:cs typeface="Cambria"/>
              <a:sym typeface="Cambria"/>
            </a:endParaRPr>
          </a:p>
        </p:txBody>
      </p:sp>
      <p:pic>
        <p:nvPicPr>
          <p:cNvPr id="2" name="Picture 1">
            <a:extLst>
              <a:ext uri="{FF2B5EF4-FFF2-40B4-BE49-F238E27FC236}">
                <a16:creationId xmlns:a16="http://schemas.microsoft.com/office/drawing/2014/main" id="{6B7A0DDF-476F-4CD5-A2CC-CCBA3AB8D3CF}"/>
              </a:ext>
            </a:extLst>
          </p:cNvPr>
          <p:cNvPicPr>
            <a:picLocks noChangeAspect="1"/>
          </p:cNvPicPr>
          <p:nvPr/>
        </p:nvPicPr>
        <p:blipFill>
          <a:blip r:embed="rId3"/>
          <a:stretch>
            <a:fillRect/>
          </a:stretch>
        </p:blipFill>
        <p:spPr>
          <a:xfrm>
            <a:off x="961533" y="829864"/>
            <a:ext cx="9818017" cy="51982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body" idx="1"/>
          </p:nvPr>
        </p:nvSpPr>
        <p:spPr>
          <a:xfrm>
            <a:off x="838200" y="1028231"/>
            <a:ext cx="11020721" cy="4929509"/>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a:lnSpc>
                <a:spcPct val="150000"/>
              </a:lnSpc>
            </a:pPr>
            <a:r>
              <a:rPr lang="en-US" sz="1900" b="1" dirty="0">
                <a:solidFill>
                  <a:schemeClr val="accent1">
                    <a:lumMod val="75000"/>
                  </a:schemeClr>
                </a:solidFill>
              </a:rPr>
              <a:t>MODULES : </a:t>
            </a:r>
            <a:r>
              <a:rPr lang="en-US" sz="1800" dirty="0"/>
              <a:t>The system is divided into key modules including Login &amp; Registration, Student Dashboard, Trainer Dashboard, OCR Module, MCQ Test Module, and Performance Tracking Module for organized development.</a:t>
            </a:r>
          </a:p>
          <a:p>
            <a:pPr>
              <a:lnSpc>
                <a:spcPct val="150000"/>
              </a:lnSpc>
            </a:pPr>
            <a:r>
              <a:rPr lang="en-US" sz="1800" b="1" dirty="0">
                <a:solidFill>
                  <a:schemeClr val="accent1">
                    <a:lumMod val="75000"/>
                  </a:schemeClr>
                </a:solidFill>
              </a:rPr>
              <a:t>METHODS : </a:t>
            </a:r>
            <a:r>
              <a:rPr lang="en-US" sz="1800" dirty="0"/>
              <a:t>The project implements techniques such as JWT-based authentication for security, password hashing for safe credential storage, OCR for text extraction from images, and REST API architecture for communication between frontend and backend.</a:t>
            </a:r>
          </a:p>
          <a:p>
            <a:pPr>
              <a:lnSpc>
                <a:spcPct val="150000"/>
              </a:lnSpc>
            </a:pPr>
            <a:r>
              <a:rPr lang="en-US" sz="1800" b="1" dirty="0">
                <a:solidFill>
                  <a:schemeClr val="accent1">
                    <a:lumMod val="75000"/>
                  </a:schemeClr>
                </a:solidFill>
              </a:rPr>
              <a:t>TECHNOLOGIES USED : </a:t>
            </a:r>
            <a:r>
              <a:rPr lang="en-US" sz="1800" dirty="0"/>
              <a:t>The project is developed using frontend technologies such as HTML, CSS, and JavaScript for building the user interface, along with Python Flask as the backend framework for handling server-side logic and API development. MySQL is used as the database for storing user data, performance records, and system information. Additionally, JWT is implemented for secure authentication, OCR technology is used for text extraction from images, and Postman is used for testing and validating API endpoints.</a:t>
            </a:r>
          </a:p>
          <a:p>
            <a:pPr>
              <a:lnSpc>
                <a:spcPct val="150000"/>
              </a:lnSpc>
            </a:pPr>
            <a:endParaRPr lang="en-US" sz="1800" dirty="0"/>
          </a:p>
          <a:p>
            <a:pPr marL="914400" lvl="2" indent="0" algn="l" rtl="0">
              <a:lnSpc>
                <a:spcPct val="150000"/>
              </a:lnSpc>
              <a:spcBef>
                <a:spcPts val="500"/>
              </a:spcBef>
              <a:spcAft>
                <a:spcPts val="0"/>
              </a:spcAft>
              <a:buClr>
                <a:schemeClr val="dk1"/>
              </a:buClr>
              <a:buSzPts val="2000"/>
              <a:buNone/>
            </a:pPr>
            <a:endParaRPr sz="1800" dirty="0"/>
          </a:p>
          <a:p>
            <a:pPr marL="1143000" lvl="2" indent="-101600" algn="l" rtl="0">
              <a:lnSpc>
                <a:spcPct val="150000"/>
              </a:lnSpc>
              <a:spcBef>
                <a:spcPts val="500"/>
              </a:spcBef>
              <a:spcAft>
                <a:spcPts val="0"/>
              </a:spcAft>
              <a:buClr>
                <a:schemeClr val="dk1"/>
              </a:buClr>
              <a:buSzPts val="2000"/>
              <a:buNone/>
            </a:pPr>
            <a:endParaRPr sz="1800" dirty="0"/>
          </a:p>
          <a:p>
            <a:pPr marL="228600" lvl="0" indent="-50800" algn="l" rtl="0">
              <a:lnSpc>
                <a:spcPct val="150000"/>
              </a:lnSpc>
              <a:spcBef>
                <a:spcPts val="1000"/>
              </a:spcBef>
              <a:spcAft>
                <a:spcPts val="0"/>
              </a:spcAft>
              <a:buClr>
                <a:schemeClr val="dk1"/>
              </a:buClr>
              <a:buSzPts val="2800"/>
              <a:buNone/>
            </a:pPr>
            <a:endParaRPr sz="1800" dirty="0"/>
          </a:p>
        </p:txBody>
      </p:sp>
      <p:sp>
        <p:nvSpPr>
          <p:cNvPr id="163" name="Google Shape;16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21-04-2026</a:t>
            </a:r>
            <a:endParaRPr dirty="0"/>
          </a:p>
        </p:txBody>
      </p:sp>
      <p:sp>
        <p:nvSpPr>
          <p:cNvPr id="164" name="Google Shape;16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165" name="Google Shape;16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66" name="Google Shape;166;p11"/>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CHOICE  OF  COMPONENTS  /  MODULES  / METHODS/TECHNIQUES </a:t>
            </a:r>
            <a:br>
              <a:rPr lang="en-US" sz="2400" b="1" dirty="0">
                <a:solidFill>
                  <a:srgbClr val="2F5496"/>
                </a:solidFill>
                <a:latin typeface="Cambria"/>
                <a:ea typeface="Cambria"/>
                <a:cs typeface="Cambria"/>
                <a:sym typeface="Cambria"/>
              </a:rPr>
            </a:br>
            <a:r>
              <a:rPr lang="en-US" sz="2400" b="1" dirty="0">
                <a:solidFill>
                  <a:srgbClr val="2F5496"/>
                </a:solidFill>
                <a:latin typeface="Cambria"/>
                <a:ea typeface="Cambria"/>
                <a:cs typeface="Cambria"/>
                <a:sym typeface="Cambria"/>
              </a:rPr>
              <a:t>EQUIPMENT  USED FOR  PROJECT DEVELOPMENT </a:t>
            </a:r>
            <a:endParaRPr sz="2400" b="1" dirty="0">
              <a:solidFill>
                <a:srgbClr val="2F5496"/>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body" idx="1"/>
          </p:nvPr>
        </p:nvSpPr>
        <p:spPr>
          <a:xfrm>
            <a:off x="838199" y="775855"/>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a:lnSpc>
                <a:spcPct val="150000"/>
              </a:lnSpc>
            </a:pPr>
            <a:r>
              <a:rPr lang="en-US" sz="2000" b="1" dirty="0">
                <a:solidFill>
                  <a:schemeClr val="accent1">
                    <a:lumMod val="75000"/>
                  </a:schemeClr>
                </a:solidFill>
              </a:rPr>
              <a:t>ARCHITECTURE TYPE:</a:t>
            </a:r>
            <a:r>
              <a:rPr lang="en-US" sz="2000" dirty="0">
                <a:solidFill>
                  <a:schemeClr val="accent1">
                    <a:lumMod val="75000"/>
                  </a:schemeClr>
                </a:solidFill>
              </a:rPr>
              <a:t> </a:t>
            </a:r>
            <a:r>
              <a:rPr lang="en-US" sz="2000" dirty="0"/>
              <a:t>The project follows a three-tier architecture to ensure better organization, scalability, and efficient data management.</a:t>
            </a:r>
          </a:p>
          <a:p>
            <a:pPr>
              <a:lnSpc>
                <a:spcPct val="150000"/>
              </a:lnSpc>
            </a:pPr>
            <a:r>
              <a:rPr lang="en-US" sz="2000" b="1" dirty="0">
                <a:solidFill>
                  <a:schemeClr val="accent1">
                    <a:lumMod val="75000"/>
                  </a:schemeClr>
                </a:solidFill>
              </a:rPr>
              <a:t>PRESENTATION LAYER:</a:t>
            </a:r>
            <a:r>
              <a:rPr lang="en-US" sz="2000" dirty="0">
                <a:solidFill>
                  <a:schemeClr val="accent1">
                    <a:lumMod val="75000"/>
                  </a:schemeClr>
                </a:solidFill>
              </a:rPr>
              <a:t> </a:t>
            </a:r>
            <a:r>
              <a:rPr lang="en-US" sz="2000" dirty="0"/>
              <a:t>The presentation layer is developed using HTML, CSS, and JavaScript to provide an interactive and user-friendly interface for users.</a:t>
            </a:r>
          </a:p>
          <a:p>
            <a:pPr>
              <a:lnSpc>
                <a:spcPct val="150000"/>
              </a:lnSpc>
            </a:pPr>
            <a:r>
              <a:rPr lang="en-US" sz="2000" b="1" dirty="0">
                <a:solidFill>
                  <a:schemeClr val="accent1">
                    <a:lumMod val="75000"/>
                  </a:schemeClr>
                </a:solidFill>
              </a:rPr>
              <a:t>APPLICATION LAYER:</a:t>
            </a:r>
            <a:r>
              <a:rPr lang="en-US" sz="2000" dirty="0">
                <a:solidFill>
                  <a:schemeClr val="accent1">
                    <a:lumMod val="75000"/>
                  </a:schemeClr>
                </a:solidFill>
              </a:rPr>
              <a:t> </a:t>
            </a:r>
            <a:r>
              <a:rPr lang="en-US" sz="2000" dirty="0"/>
              <a:t>The application layer is built using Python Flask, which handles business logic, user authentication using JWT, and API communication between frontend and backend.</a:t>
            </a:r>
          </a:p>
          <a:p>
            <a:pPr>
              <a:lnSpc>
                <a:spcPct val="150000"/>
              </a:lnSpc>
            </a:pPr>
            <a:r>
              <a:rPr lang="en-US" sz="2000" b="1" dirty="0">
                <a:solidFill>
                  <a:schemeClr val="accent1">
                    <a:lumMod val="75000"/>
                  </a:schemeClr>
                </a:solidFill>
              </a:rPr>
              <a:t>DATABASE LAYER:</a:t>
            </a:r>
            <a:r>
              <a:rPr lang="en-US" sz="2000" dirty="0">
                <a:solidFill>
                  <a:schemeClr val="accent1">
                    <a:lumMod val="75000"/>
                  </a:schemeClr>
                </a:solidFill>
              </a:rPr>
              <a:t> </a:t>
            </a:r>
            <a:r>
              <a:rPr lang="en-US" sz="2000" dirty="0"/>
              <a:t>The database layer uses MySQL to store user information, course details, and performance records securely.</a:t>
            </a:r>
          </a:p>
          <a:p>
            <a:pPr>
              <a:lnSpc>
                <a:spcPct val="150000"/>
              </a:lnSpc>
            </a:pPr>
            <a:r>
              <a:rPr lang="en-US" sz="2000" b="1" dirty="0">
                <a:solidFill>
                  <a:schemeClr val="accent1">
                    <a:lumMod val="75000"/>
                  </a:schemeClr>
                </a:solidFill>
              </a:rPr>
              <a:t>ADDITIONAL MODULES:</a:t>
            </a:r>
            <a:r>
              <a:rPr lang="en-US" sz="2000" dirty="0">
                <a:solidFill>
                  <a:schemeClr val="accent1">
                    <a:lumMod val="75000"/>
                  </a:schemeClr>
                </a:solidFill>
              </a:rPr>
              <a:t> </a:t>
            </a:r>
            <a:r>
              <a:rPr lang="en-US" sz="2000" dirty="0"/>
              <a:t>The system integrates JWT for secure authentication, OCR for text extraction from images, and an MCQ module for conducting self-evaluation tests.</a:t>
            </a:r>
          </a:p>
          <a:p>
            <a:pPr marL="1143000" lvl="2" indent="-101600" algn="l" rtl="0">
              <a:lnSpc>
                <a:spcPct val="150000"/>
              </a:lnSpc>
              <a:spcBef>
                <a:spcPts val="500"/>
              </a:spcBef>
              <a:spcAft>
                <a:spcPts val="0"/>
              </a:spcAft>
              <a:buClr>
                <a:schemeClr val="dk1"/>
              </a:buClr>
              <a:buSzPts val="2000"/>
              <a:buNone/>
            </a:pPr>
            <a:endParaRPr dirty="0"/>
          </a:p>
          <a:p>
            <a:pPr marL="914400" lvl="2" indent="0" algn="l" rtl="0">
              <a:lnSpc>
                <a:spcPct val="150000"/>
              </a:lnSpc>
              <a:spcBef>
                <a:spcPts val="500"/>
              </a:spcBef>
              <a:spcAft>
                <a:spcPts val="0"/>
              </a:spcAft>
              <a:buClr>
                <a:schemeClr val="dk1"/>
              </a:buClr>
              <a:buSzPts val="2000"/>
              <a:buNone/>
            </a:pPr>
            <a:endParaRPr dirty="0"/>
          </a:p>
          <a:p>
            <a:pPr marL="1143000" lvl="2" indent="-101600" algn="l" rtl="0">
              <a:lnSpc>
                <a:spcPct val="150000"/>
              </a:lnSpc>
              <a:spcBef>
                <a:spcPts val="500"/>
              </a:spcBef>
              <a:spcAft>
                <a:spcPts val="0"/>
              </a:spcAft>
              <a:buClr>
                <a:schemeClr val="dk1"/>
              </a:buClr>
              <a:buSzPts val="2000"/>
              <a:buNone/>
            </a:pPr>
            <a:endParaRPr dirty="0"/>
          </a:p>
          <a:p>
            <a:pPr marL="228600" lvl="0" indent="-50800" algn="l" rtl="0">
              <a:lnSpc>
                <a:spcPct val="150000"/>
              </a:lnSpc>
              <a:spcBef>
                <a:spcPts val="1000"/>
              </a:spcBef>
              <a:spcAft>
                <a:spcPts val="0"/>
              </a:spcAft>
              <a:buClr>
                <a:schemeClr val="dk1"/>
              </a:buClr>
              <a:buSzPts val="2800"/>
              <a:buNone/>
            </a:pPr>
            <a:endParaRPr sz="2000" dirty="0"/>
          </a:p>
        </p:txBody>
      </p:sp>
      <p:sp>
        <p:nvSpPr>
          <p:cNvPr id="172" name="Google Shape;17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dirty="0"/>
              <a:t>21-04-2026</a:t>
            </a:r>
            <a:endParaRPr dirty="0"/>
          </a:p>
        </p:txBody>
      </p:sp>
      <p:sp>
        <p:nvSpPr>
          <p:cNvPr id="173" name="Google Shape;17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174" name="Google Shape;17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75" name="Google Shape;175;p14"/>
          <p:cNvSpPr txBox="1">
            <a:spLocks noGrp="1"/>
          </p:cNvSpPr>
          <p:nvPr>
            <p:ph type="title"/>
          </p:nvPr>
        </p:nvSpPr>
        <p:spPr>
          <a:xfrm>
            <a:off x="838200" y="240434"/>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DESIGN(S) (HARDWARE / SOFTWARE ARCHITECTURE) </a:t>
            </a:r>
            <a:endParaRPr sz="2400" b="1" dirty="0">
              <a:solidFill>
                <a:srgbClr val="2F5496"/>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0cf035dbfd_0_199"/>
          <p:cNvSpPr txBox="1">
            <a:spLocks noGrp="1"/>
          </p:cNvSpPr>
          <p:nvPr>
            <p:ph type="body" idx="1"/>
          </p:nvPr>
        </p:nvSpPr>
        <p:spPr>
          <a:xfrm>
            <a:off x="838199" y="775855"/>
            <a:ext cx="10674900" cy="54447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a:lnSpc>
                <a:spcPct val="150000"/>
              </a:lnSpc>
            </a:pPr>
            <a:r>
              <a:rPr lang="en-US" sz="2000" b="1" dirty="0">
                <a:solidFill>
                  <a:schemeClr val="accent1">
                    <a:lumMod val="75000"/>
                  </a:schemeClr>
                </a:solidFill>
              </a:rPr>
              <a:t>SYSTEM PERFORMANCE:</a:t>
            </a:r>
            <a:r>
              <a:rPr lang="en-US" sz="2000" dirty="0">
                <a:solidFill>
                  <a:schemeClr val="accent1">
                    <a:lumMod val="75000"/>
                  </a:schemeClr>
                </a:solidFill>
              </a:rPr>
              <a:t> </a:t>
            </a:r>
            <a:r>
              <a:rPr lang="en-US" sz="2000" dirty="0"/>
              <a:t>The system successfully performs all core functionalities including user authentication, dashboard access, and module operations without major errors.</a:t>
            </a:r>
          </a:p>
          <a:p>
            <a:pPr>
              <a:lnSpc>
                <a:spcPct val="150000"/>
              </a:lnSpc>
            </a:pPr>
            <a:r>
              <a:rPr lang="en-US" sz="2000" b="1" dirty="0">
                <a:solidFill>
                  <a:schemeClr val="accent1">
                    <a:lumMod val="75000"/>
                  </a:schemeClr>
                </a:solidFill>
              </a:rPr>
              <a:t>USER EXPERIENCE:</a:t>
            </a:r>
            <a:r>
              <a:rPr lang="en-US" sz="2000" dirty="0">
                <a:solidFill>
                  <a:schemeClr val="accent1">
                    <a:lumMod val="75000"/>
                  </a:schemeClr>
                </a:solidFill>
              </a:rPr>
              <a:t> </a:t>
            </a:r>
            <a:r>
              <a:rPr lang="en-US" sz="2000" dirty="0"/>
              <a:t>The interface is simple and user-friendly, allowing students and trainers to easily navigate through dashboards and features.</a:t>
            </a:r>
          </a:p>
          <a:p>
            <a:pPr>
              <a:lnSpc>
                <a:spcPct val="150000"/>
              </a:lnSpc>
            </a:pPr>
            <a:r>
              <a:rPr lang="en-US" sz="2000" b="1" dirty="0">
                <a:solidFill>
                  <a:schemeClr val="accent1">
                    <a:lumMod val="75000"/>
                  </a:schemeClr>
                </a:solidFill>
              </a:rPr>
              <a:t>STUDENT OUTCOMES:</a:t>
            </a:r>
            <a:r>
              <a:rPr lang="en-US" sz="2000" dirty="0">
                <a:solidFill>
                  <a:schemeClr val="accent1">
                    <a:lumMod val="75000"/>
                  </a:schemeClr>
                </a:solidFill>
              </a:rPr>
              <a:t> </a:t>
            </a:r>
            <a:r>
              <a:rPr lang="en-US" sz="2000" dirty="0"/>
              <a:t>Students are able to follow personalized learning roadmaps, use OCR for better understanding, and improve their knowledge through MCQ assessments.</a:t>
            </a:r>
          </a:p>
          <a:p>
            <a:pPr>
              <a:lnSpc>
                <a:spcPct val="150000"/>
              </a:lnSpc>
            </a:pPr>
            <a:r>
              <a:rPr lang="en-US" sz="2000" b="1" dirty="0">
                <a:solidFill>
                  <a:schemeClr val="accent1">
                    <a:lumMod val="75000"/>
                  </a:schemeClr>
                </a:solidFill>
              </a:rPr>
              <a:t>TRAINER EFFICIENCY:</a:t>
            </a:r>
            <a:r>
              <a:rPr lang="en-US" sz="2000" dirty="0">
                <a:solidFill>
                  <a:schemeClr val="accent1">
                    <a:lumMod val="75000"/>
                  </a:schemeClr>
                </a:solidFill>
              </a:rPr>
              <a:t> </a:t>
            </a:r>
            <a:r>
              <a:rPr lang="en-US" sz="2000" dirty="0"/>
              <a:t>Trainers can effectively monitor student progress, track marks, and analyze overall performance in a structured manner.</a:t>
            </a:r>
          </a:p>
          <a:p>
            <a:pPr>
              <a:lnSpc>
                <a:spcPct val="150000"/>
              </a:lnSpc>
            </a:pPr>
            <a:r>
              <a:rPr lang="en-US" sz="2000" b="1" dirty="0">
                <a:solidFill>
                  <a:schemeClr val="accent1">
                    <a:lumMod val="75000"/>
                  </a:schemeClr>
                </a:solidFill>
              </a:rPr>
              <a:t>ACCURACY AND RELIABILITY:</a:t>
            </a:r>
            <a:r>
              <a:rPr lang="en-US" sz="2000" dirty="0">
                <a:solidFill>
                  <a:schemeClr val="accent1">
                    <a:lumMod val="75000"/>
                  </a:schemeClr>
                </a:solidFill>
              </a:rPr>
              <a:t> </a:t>
            </a:r>
            <a:r>
              <a:rPr lang="en-US" sz="2000" dirty="0"/>
              <a:t>The system provides accurate results in authentication, quiz evaluation, and data storage, ensuring reliable performance.</a:t>
            </a:r>
          </a:p>
        </p:txBody>
      </p:sp>
      <p:sp>
        <p:nvSpPr>
          <p:cNvPr id="190" name="Google Shape;190;g30cf035dbfd_0_19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a:solidFill>
                  <a:srgbClr val="385623"/>
                </a:solidFill>
              </a:rPr>
              <a:t>21-04-2026</a:t>
            </a:r>
            <a:endParaRPr sz="1800" b="1" dirty="0">
              <a:solidFill>
                <a:srgbClr val="385623"/>
              </a:solidFill>
            </a:endParaRPr>
          </a:p>
        </p:txBody>
      </p:sp>
      <p:sp>
        <p:nvSpPr>
          <p:cNvPr id="191" name="Google Shape;191;g30cf035dbfd_0_19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400"/>
              <a:buFont typeface="Arial"/>
              <a:buNone/>
            </a:pPr>
            <a:r>
              <a:rPr lang="en-US" sz="1800" b="1" dirty="0">
                <a:solidFill>
                  <a:srgbClr val="385623"/>
                </a:solidFill>
              </a:rPr>
              <a:t>FINAL REVIEW PRESENTATION</a:t>
            </a:r>
            <a:endParaRPr sz="1800" b="1" dirty="0">
              <a:solidFill>
                <a:srgbClr val="385623"/>
              </a:solidFill>
            </a:endParaRPr>
          </a:p>
        </p:txBody>
      </p:sp>
      <p:sp>
        <p:nvSpPr>
          <p:cNvPr id="192" name="Google Shape;192;g30cf035dbfd_0_19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
        <p:nvSpPr>
          <p:cNvPr id="193" name="Google Shape;193;g30cf035dbfd_0_199"/>
          <p:cNvSpPr txBox="1">
            <a:spLocks noGrp="1"/>
          </p:cNvSpPr>
          <p:nvPr>
            <p:ph type="title"/>
          </p:nvPr>
        </p:nvSpPr>
        <p:spPr>
          <a:xfrm>
            <a:off x="838200" y="240434"/>
            <a:ext cx="10515600" cy="4383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ANALYSIS OF RESULTS AND DISCUSSION</a:t>
            </a:r>
            <a:endParaRPr sz="2400" b="1" dirty="0">
              <a:solidFill>
                <a:srgbClr val="2F5496"/>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9" name="Google Shape;199;g30cf035dbfd_0_299"/>
          <p:cNvSpPr txBox="1">
            <a:spLocks noGrp="1"/>
          </p:cNvSpPr>
          <p:nvPr>
            <p:ph type="dt" idx="10"/>
          </p:nvPr>
        </p:nvSpPr>
        <p:spPr>
          <a:xfrm>
            <a:off x="838200" y="6263872"/>
            <a:ext cx="27432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1800" b="1" dirty="0">
                <a:solidFill>
                  <a:srgbClr val="385623"/>
                </a:solidFill>
              </a:rPr>
              <a:t>21-04-2026</a:t>
            </a:r>
            <a:endParaRPr sz="1800" b="1" dirty="0">
              <a:solidFill>
                <a:srgbClr val="385623"/>
              </a:solidFill>
            </a:endParaRPr>
          </a:p>
        </p:txBody>
      </p:sp>
      <p:sp>
        <p:nvSpPr>
          <p:cNvPr id="200" name="Google Shape;200;g30cf035dbfd_0_299"/>
          <p:cNvSpPr txBox="1">
            <a:spLocks noGrp="1"/>
          </p:cNvSpPr>
          <p:nvPr>
            <p:ph type="ftr" idx="11"/>
          </p:nvPr>
        </p:nvSpPr>
        <p:spPr>
          <a:xfrm>
            <a:off x="4038600" y="6270615"/>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400"/>
              <a:buFont typeface="Arial"/>
              <a:buNone/>
            </a:pPr>
            <a:r>
              <a:rPr lang="en-US" sz="1800" b="1" dirty="0">
                <a:solidFill>
                  <a:srgbClr val="385623"/>
                </a:solidFill>
              </a:rPr>
              <a:t>FINAL REVIEW PRESENTATION</a:t>
            </a:r>
            <a:endParaRPr sz="1800" b="1" dirty="0">
              <a:solidFill>
                <a:srgbClr val="385623"/>
              </a:solidFill>
            </a:endParaRPr>
          </a:p>
        </p:txBody>
      </p:sp>
      <p:sp>
        <p:nvSpPr>
          <p:cNvPr id="201" name="Google Shape;201;g30cf035dbfd_0_299"/>
          <p:cNvSpPr txBox="1">
            <a:spLocks noGrp="1"/>
          </p:cNvSpPr>
          <p:nvPr>
            <p:ph type="sldNum" idx="12"/>
          </p:nvPr>
        </p:nvSpPr>
        <p:spPr>
          <a:xfrm>
            <a:off x="8686014" y="6244125"/>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dirty="0"/>
          </a:p>
        </p:txBody>
      </p:sp>
      <p:sp>
        <p:nvSpPr>
          <p:cNvPr id="202" name="Google Shape;202;g30cf035dbfd_0_299"/>
          <p:cNvSpPr txBox="1">
            <a:spLocks noGrp="1"/>
          </p:cNvSpPr>
          <p:nvPr>
            <p:ph type="title"/>
          </p:nvPr>
        </p:nvSpPr>
        <p:spPr>
          <a:xfrm>
            <a:off x="838200" y="240434"/>
            <a:ext cx="10515600" cy="4383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F5496"/>
              </a:buClr>
              <a:buSzPts val="2400"/>
              <a:buFont typeface="Cambria"/>
              <a:buNone/>
            </a:pPr>
            <a:r>
              <a:rPr lang="en-US" sz="2400" b="1" dirty="0">
                <a:solidFill>
                  <a:srgbClr val="2F5496"/>
                </a:solidFill>
                <a:latin typeface="Cambria"/>
                <a:ea typeface="Cambria"/>
                <a:cs typeface="Cambria"/>
                <a:sym typeface="Cambria"/>
              </a:rPr>
              <a:t>CONCLUSION</a:t>
            </a:r>
            <a:endParaRPr sz="2400" b="1" dirty="0">
              <a:solidFill>
                <a:srgbClr val="2F5496"/>
              </a:solidFill>
              <a:latin typeface="Cambria"/>
              <a:ea typeface="Cambria"/>
              <a:cs typeface="Cambria"/>
              <a:sym typeface="Cambria"/>
            </a:endParaRPr>
          </a:p>
        </p:txBody>
      </p:sp>
      <p:sp>
        <p:nvSpPr>
          <p:cNvPr id="2" name="Text Placeholder 1">
            <a:extLst>
              <a:ext uri="{FF2B5EF4-FFF2-40B4-BE49-F238E27FC236}">
                <a16:creationId xmlns:a16="http://schemas.microsoft.com/office/drawing/2014/main" id="{4514DC5E-A029-4AEB-8AB6-16BEAD288744}"/>
              </a:ext>
            </a:extLst>
          </p:cNvPr>
          <p:cNvSpPr>
            <a:spLocks noGrp="1" noChangeArrowheads="1"/>
          </p:cNvSpPr>
          <p:nvPr>
            <p:ph type="body" idx="1"/>
          </p:nvPr>
        </p:nvSpPr>
        <p:spPr bwMode="auto">
          <a:xfrm>
            <a:off x="1215272" y="1513091"/>
            <a:ext cx="10674926"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Training Recommendation System is successfully developed as a web-based application that provides personalized learning support for students and efficient monitoring tools for trainers. </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project achieves its objectives by implementing secure authentication, role-based dashboards, OCR functionality, and MCQ-based self-evaluation. It enhances learning efficiency by offering structured daily roadmaps and enables trainers to effectively track and analyze student performance. </a:t>
            </a:r>
          </a:p>
          <a:p>
            <a:pPr marL="285750" indent="-28575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use of technologies such as HTML, CSS, JavaScript, Flask, and MySQL ensures that the system is reliable, scalable, and user-friendly. Overall, the project presents a practical solution for improving digital learning and performance tracking, with future scope for enhancements like AI-based recommendations, mobile application support, and advanced analytics features.</a:t>
            </a:r>
          </a:p>
        </p:txBody>
      </p:sp>
      <p:sp>
        <p:nvSpPr>
          <p:cNvPr id="8" name="Google Shape;171;p14">
            <a:extLst>
              <a:ext uri="{FF2B5EF4-FFF2-40B4-BE49-F238E27FC236}">
                <a16:creationId xmlns:a16="http://schemas.microsoft.com/office/drawing/2014/main" id="{99CAE864-926D-4DAE-9E87-936D6CF0630F}"/>
              </a:ext>
            </a:extLst>
          </p:cNvPr>
          <p:cNvSpPr txBox="1">
            <a:spLocks/>
          </p:cNvSpPr>
          <p:nvPr/>
        </p:nvSpPr>
        <p:spPr>
          <a:xfrm>
            <a:off x="758536" y="910556"/>
            <a:ext cx="11131662" cy="4940074"/>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150000"/>
              </a:lnSpc>
              <a:buNone/>
            </a:pPr>
            <a:endParaRPr lang="en-US" sz="2000" dirty="0"/>
          </a:p>
          <a:p>
            <a:pPr marL="1143000" lvl="2" indent="-101600">
              <a:lnSpc>
                <a:spcPct val="150000"/>
              </a:lnSpc>
              <a:buSzPts val="2000"/>
              <a:buFont typeface="Arial"/>
              <a:buNone/>
            </a:pPr>
            <a:endParaRPr lang="en-US" dirty="0"/>
          </a:p>
          <a:p>
            <a:pPr marL="914400" lvl="2" indent="0">
              <a:lnSpc>
                <a:spcPct val="150000"/>
              </a:lnSpc>
              <a:buSzPts val="2000"/>
              <a:buFont typeface="Arial"/>
              <a:buNone/>
            </a:pPr>
            <a:endParaRPr lang="en-US" dirty="0"/>
          </a:p>
          <a:p>
            <a:pPr marL="1143000" lvl="2" indent="-101600">
              <a:lnSpc>
                <a:spcPct val="150000"/>
              </a:lnSpc>
              <a:buSzPts val="2000"/>
              <a:buFont typeface="Arial"/>
              <a:buNone/>
            </a:pPr>
            <a:endParaRPr lang="en-US" dirty="0"/>
          </a:p>
          <a:p>
            <a:pPr marL="228600" indent="-50800">
              <a:lnSpc>
                <a:spcPct val="150000"/>
              </a:lnSpc>
              <a:buSzPts val="2800"/>
              <a:buFont typeface="Arial"/>
              <a:buNone/>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1"/>
          <p:cNvSpPr txBox="1">
            <a:spLocks noGrp="1"/>
          </p:cNvSpPr>
          <p:nvPr>
            <p:ph type="title"/>
          </p:nvPr>
        </p:nvSpPr>
        <p:spPr>
          <a:xfrm>
            <a:off x="838200" y="365126"/>
            <a:ext cx="10515600" cy="68782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2400"/>
              <a:buFont typeface="Cambria"/>
              <a:buNone/>
            </a:pPr>
            <a:r>
              <a:rPr lang="en-US" sz="2400" b="1" dirty="0">
                <a:solidFill>
                  <a:srgbClr val="0070C0"/>
                </a:solidFill>
                <a:latin typeface="Cambria"/>
                <a:ea typeface="Cambria"/>
                <a:cs typeface="Cambria"/>
                <a:sym typeface="Cambria"/>
              </a:rPr>
              <a:t>FUTURE ENHANCEMENTS</a:t>
            </a:r>
            <a:endParaRPr sz="2400" b="1" dirty="0">
              <a:solidFill>
                <a:srgbClr val="0070C0"/>
              </a:solidFill>
              <a:latin typeface="Cambria"/>
              <a:ea typeface="Cambria"/>
              <a:cs typeface="Cambria"/>
              <a:sym typeface="Cambria"/>
            </a:endParaRPr>
          </a:p>
        </p:txBody>
      </p:sp>
      <p:sp>
        <p:nvSpPr>
          <p:cNvPr id="253" name="Google Shape;253;p21"/>
          <p:cNvSpPr txBox="1">
            <a:spLocks noGrp="1"/>
          </p:cNvSpPr>
          <p:nvPr>
            <p:ph type="body" idx="1"/>
          </p:nvPr>
        </p:nvSpPr>
        <p:spPr>
          <a:xfrm>
            <a:off x="838200" y="1253331"/>
            <a:ext cx="10515600" cy="4351338"/>
          </a:xfrm>
          <a:prstGeom prst="rect">
            <a:avLst/>
          </a:prstGeom>
          <a:noFill/>
          <a:ln>
            <a:noFill/>
          </a:ln>
        </p:spPr>
        <p:txBody>
          <a:bodyPr spcFirstLastPara="1" wrap="square" lIns="91425" tIns="45700" rIns="91425" bIns="45700" anchor="t" anchorCtr="0">
            <a:normAutofit/>
          </a:bodyPr>
          <a:lstStyle/>
          <a:p>
            <a:pPr marL="228600" lvl="0" indent="-228600">
              <a:lnSpc>
                <a:spcPct val="150000"/>
              </a:lnSpc>
              <a:spcBef>
                <a:spcPts val="0"/>
              </a:spcBef>
              <a:buSzPts val="2800"/>
            </a:pPr>
            <a:r>
              <a:rPr lang="en-US" sz="2000" b="1" dirty="0">
                <a:solidFill>
                  <a:schemeClr val="accent5"/>
                </a:solidFill>
              </a:rPr>
              <a:t>AI-BASED RECOMMENDATIONS:</a:t>
            </a:r>
            <a:r>
              <a:rPr lang="en-US" sz="2000" dirty="0">
                <a:solidFill>
                  <a:schemeClr val="accent5"/>
                </a:solidFill>
              </a:rPr>
              <a:t> </a:t>
            </a:r>
            <a:r>
              <a:rPr lang="en-US" sz="2000" dirty="0"/>
              <a:t>The system can be enhanced by integrating artificial intelligence to provide more accurate and personalized learning suggestions based on student performance and behavior.</a:t>
            </a:r>
          </a:p>
          <a:p>
            <a:pPr marL="228600" lvl="0" indent="-228600">
              <a:lnSpc>
                <a:spcPct val="150000"/>
              </a:lnSpc>
              <a:spcBef>
                <a:spcPts val="0"/>
              </a:spcBef>
              <a:buSzPts val="2800"/>
            </a:pPr>
            <a:r>
              <a:rPr lang="en-US" sz="2000" b="1" dirty="0">
                <a:solidFill>
                  <a:schemeClr val="accent5"/>
                </a:solidFill>
              </a:rPr>
              <a:t>MOBILE APPLICATION SUPPORT:</a:t>
            </a:r>
            <a:r>
              <a:rPr lang="en-US" sz="2000" dirty="0">
                <a:solidFill>
                  <a:schemeClr val="accent5"/>
                </a:solidFill>
              </a:rPr>
              <a:t> </a:t>
            </a:r>
            <a:r>
              <a:rPr lang="en-US" sz="2000" dirty="0"/>
              <a:t>A mobile version of the application can be developed to allow users to access the system anytime and anywhere.</a:t>
            </a:r>
          </a:p>
          <a:p>
            <a:pPr marL="228600" lvl="0" indent="-228600">
              <a:lnSpc>
                <a:spcPct val="150000"/>
              </a:lnSpc>
              <a:spcBef>
                <a:spcPts val="0"/>
              </a:spcBef>
              <a:buSzPts val="2800"/>
            </a:pPr>
            <a:r>
              <a:rPr lang="en-US" sz="2000" b="1" dirty="0">
                <a:solidFill>
                  <a:schemeClr val="accent5"/>
                </a:solidFill>
              </a:rPr>
              <a:t>ADVANCED ANALYTICS:</a:t>
            </a:r>
            <a:r>
              <a:rPr lang="en-US" sz="2000" dirty="0">
                <a:solidFill>
                  <a:schemeClr val="accent5"/>
                </a:solidFill>
              </a:rPr>
              <a:t> </a:t>
            </a:r>
            <a:r>
              <a:rPr lang="en-US" sz="2000" dirty="0"/>
              <a:t>The system can include advanced analytics and visualization tools to provide deeper insights into student progress and performance</a:t>
            </a:r>
          </a:p>
          <a:p>
            <a:pPr marL="228600" lvl="0" indent="-228600">
              <a:lnSpc>
                <a:spcPct val="150000"/>
              </a:lnSpc>
              <a:spcBef>
                <a:spcPts val="0"/>
              </a:spcBef>
              <a:buSzPts val="2800"/>
            </a:pPr>
            <a:r>
              <a:rPr lang="en-US" sz="2000" b="1" dirty="0">
                <a:solidFill>
                  <a:schemeClr val="accent5"/>
                </a:solidFill>
              </a:rPr>
              <a:t>Enhanced OCR Capabilities:</a:t>
            </a:r>
            <a:r>
              <a:rPr lang="en-US" sz="2000" dirty="0">
                <a:solidFill>
                  <a:schemeClr val="accent5"/>
                </a:solidFill>
              </a:rPr>
              <a:t> </a:t>
            </a:r>
            <a:r>
              <a:rPr lang="en-US" sz="2000" dirty="0"/>
              <a:t>The OCR module can be improved to support multiple languages and provide more accurate text extraction.</a:t>
            </a:r>
            <a:endParaRPr sz="2000" dirty="0"/>
          </a:p>
        </p:txBody>
      </p:sp>
      <p:sp>
        <p:nvSpPr>
          <p:cNvPr id="254" name="Google Shape;25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US" sz="1800" b="1" dirty="0">
                <a:solidFill>
                  <a:srgbClr val="385623"/>
                </a:solidFill>
              </a:rPr>
              <a:t>21-04-2026</a:t>
            </a:r>
            <a:endParaRPr dirty="0"/>
          </a:p>
        </p:txBody>
      </p:sp>
      <p:sp>
        <p:nvSpPr>
          <p:cNvPr id="255" name="Google Shape;25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256" name="Google Shape;25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5"/>
          <p:cNvSpPr txBox="1">
            <a:spLocks noGrp="1"/>
          </p:cNvSpPr>
          <p:nvPr>
            <p:ph type="body" idx="1"/>
          </p:nvPr>
        </p:nvSpPr>
        <p:spPr>
          <a:xfrm>
            <a:off x="838200" y="911514"/>
            <a:ext cx="10674927" cy="5444836"/>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C00000"/>
              </a:buClr>
              <a:buSzPts val="2400"/>
              <a:buNone/>
            </a:pPr>
            <a:r>
              <a:rPr lang="en-US" sz="2400" dirty="0">
                <a:solidFill>
                  <a:srgbClr val="C00000"/>
                </a:solidFill>
              </a:rPr>
              <a:t>Journal </a:t>
            </a:r>
            <a:endParaRPr dirty="0"/>
          </a:p>
          <a:p>
            <a:pPr marL="0" lvl="0" indent="0" algn="l" rtl="0">
              <a:lnSpc>
                <a:spcPct val="90000"/>
              </a:lnSpc>
              <a:spcBef>
                <a:spcPts val="1000"/>
              </a:spcBef>
              <a:spcAft>
                <a:spcPts val="0"/>
              </a:spcAft>
              <a:buClr>
                <a:schemeClr val="dk1"/>
              </a:buClr>
              <a:buSzPts val="1800"/>
              <a:buNone/>
            </a:pPr>
            <a:endParaRPr lang="en-US" dirty="0"/>
          </a:p>
          <a:p>
            <a:pPr marL="0" lvl="0" indent="0" algn="l" rtl="0">
              <a:lnSpc>
                <a:spcPct val="90000"/>
              </a:lnSpc>
              <a:spcBef>
                <a:spcPts val="1000"/>
              </a:spcBef>
              <a:spcAft>
                <a:spcPts val="0"/>
              </a:spcAft>
              <a:buClr>
                <a:schemeClr val="dk1"/>
              </a:buClr>
              <a:buSzPts val="1800"/>
              <a:buNone/>
            </a:pPr>
            <a:endParaRPr dirty="0"/>
          </a:p>
          <a:p>
            <a:pPr marL="0" lvl="0" indent="0" algn="l" rtl="0">
              <a:lnSpc>
                <a:spcPct val="90000"/>
              </a:lnSpc>
              <a:spcBef>
                <a:spcPts val="1000"/>
              </a:spcBef>
              <a:spcAft>
                <a:spcPts val="0"/>
              </a:spcAft>
              <a:buClr>
                <a:srgbClr val="C00000"/>
              </a:buClr>
              <a:buSzPts val="2400"/>
              <a:buNone/>
            </a:pPr>
            <a:endParaRPr lang="en-US" sz="2400" dirty="0">
              <a:solidFill>
                <a:srgbClr val="C00000"/>
              </a:solidFill>
            </a:endParaRPr>
          </a:p>
          <a:p>
            <a:pPr marL="0" lvl="0" indent="0" algn="l" rtl="0">
              <a:lnSpc>
                <a:spcPct val="90000"/>
              </a:lnSpc>
              <a:spcBef>
                <a:spcPts val="1000"/>
              </a:spcBef>
              <a:spcAft>
                <a:spcPts val="0"/>
              </a:spcAft>
              <a:buClr>
                <a:srgbClr val="C00000"/>
              </a:buClr>
              <a:buSzPts val="2400"/>
              <a:buNone/>
            </a:pPr>
            <a:r>
              <a:rPr lang="en-US" sz="2400" dirty="0">
                <a:solidFill>
                  <a:srgbClr val="C00000"/>
                </a:solidFill>
              </a:rPr>
              <a:t>Books</a:t>
            </a:r>
          </a:p>
          <a:p>
            <a:pPr marL="0" indent="0">
              <a:buClr>
                <a:srgbClr val="C00000"/>
              </a:buClr>
              <a:buSzPts val="2400"/>
              <a:buNone/>
            </a:pPr>
            <a:r>
              <a:rPr lang="en-US" sz="2000" dirty="0"/>
              <a:t>   </a:t>
            </a:r>
            <a:r>
              <a:rPr lang="en-US" sz="1800" dirty="0"/>
              <a:t>Ian Goodfellow, </a:t>
            </a:r>
            <a:r>
              <a:rPr lang="en-US" sz="1800" dirty="0" err="1"/>
              <a:t>Yoshua</a:t>
            </a:r>
            <a:r>
              <a:rPr lang="en-US" sz="1800" dirty="0"/>
              <a:t> </a:t>
            </a:r>
            <a:r>
              <a:rPr lang="en-US" sz="1800" dirty="0" err="1"/>
              <a:t>Bengio</a:t>
            </a:r>
            <a:r>
              <a:rPr lang="en-US" sz="1800" dirty="0"/>
              <a:t>, and Aaron Courville, </a:t>
            </a:r>
            <a:r>
              <a:rPr lang="en-US" sz="1800" i="1" dirty="0"/>
              <a:t>Deep Learning</a:t>
            </a:r>
            <a:r>
              <a:rPr lang="en-US" sz="1800" dirty="0"/>
              <a:t>, MIT Press, 2016.</a:t>
            </a:r>
            <a:r>
              <a:rPr lang="en-US" sz="1800" dirty="0">
                <a:solidFill>
                  <a:srgbClr val="C00000"/>
                </a:solidFill>
              </a:rPr>
              <a:t> </a:t>
            </a:r>
            <a:endParaRPr sz="1800" dirty="0">
              <a:solidFill>
                <a:srgbClr val="C00000"/>
              </a:solidFill>
            </a:endParaRPr>
          </a:p>
          <a:p>
            <a:pPr marL="0" lvl="0" indent="0" algn="l" rtl="0">
              <a:lnSpc>
                <a:spcPct val="90000"/>
              </a:lnSpc>
              <a:spcBef>
                <a:spcPts val="1000"/>
              </a:spcBef>
              <a:spcAft>
                <a:spcPts val="0"/>
              </a:spcAft>
              <a:buClr>
                <a:srgbClr val="C00000"/>
              </a:buClr>
              <a:buSzPts val="2400"/>
              <a:buNone/>
            </a:pPr>
            <a:r>
              <a:rPr lang="en-US" sz="2400" dirty="0">
                <a:solidFill>
                  <a:srgbClr val="C00000"/>
                </a:solidFill>
              </a:rPr>
              <a:t>Patent </a:t>
            </a:r>
            <a:endParaRPr sz="2400" dirty="0">
              <a:solidFill>
                <a:srgbClr val="C00000"/>
              </a:solidFill>
            </a:endParaRPr>
          </a:p>
          <a:p>
            <a:pPr marL="0" lvl="0" indent="0">
              <a:buClr>
                <a:srgbClr val="C00000"/>
              </a:buClr>
              <a:buSzPts val="2400"/>
              <a:buNone/>
            </a:pPr>
            <a:r>
              <a:rPr lang="en-US" sz="1800" dirty="0"/>
              <a:t>   Johnson, “System and Method for Personalized Learning Recommendation,” U.S. Patent No. US10234567B2, 2019.</a:t>
            </a:r>
            <a:endParaRPr lang="en-US" sz="1800" dirty="0">
              <a:solidFill>
                <a:srgbClr val="C00000"/>
              </a:solidFill>
            </a:endParaRPr>
          </a:p>
          <a:p>
            <a:pPr marL="0" lvl="0" indent="0" algn="l" rtl="0">
              <a:lnSpc>
                <a:spcPct val="90000"/>
              </a:lnSpc>
              <a:spcBef>
                <a:spcPts val="1000"/>
              </a:spcBef>
              <a:spcAft>
                <a:spcPts val="0"/>
              </a:spcAft>
              <a:buClr>
                <a:srgbClr val="C00000"/>
              </a:buClr>
              <a:buSzPts val="2400"/>
              <a:buNone/>
            </a:pPr>
            <a:r>
              <a:rPr lang="en-US" sz="2400" dirty="0">
                <a:solidFill>
                  <a:srgbClr val="C00000"/>
                </a:solidFill>
              </a:rPr>
              <a:t>Website</a:t>
            </a:r>
            <a:endParaRPr dirty="0"/>
          </a:p>
          <a:p>
            <a:pPr marL="0" lvl="0" indent="0" algn="l" rtl="0">
              <a:lnSpc>
                <a:spcPct val="90000"/>
              </a:lnSpc>
              <a:spcBef>
                <a:spcPts val="1000"/>
              </a:spcBef>
              <a:spcAft>
                <a:spcPts val="0"/>
              </a:spcAft>
              <a:buClr>
                <a:schemeClr val="dk1"/>
              </a:buClr>
              <a:buSzPts val="1800"/>
              <a:buNone/>
            </a:pPr>
            <a:endParaRPr sz="1800" dirty="0">
              <a:solidFill>
                <a:schemeClr val="dk1"/>
              </a:solidFill>
            </a:endParaRPr>
          </a:p>
        </p:txBody>
      </p:sp>
      <p:sp>
        <p:nvSpPr>
          <p:cNvPr id="310" name="Google Shape;31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US" sz="1800" b="1" dirty="0">
                <a:solidFill>
                  <a:srgbClr val="385623"/>
                </a:solidFill>
              </a:rPr>
              <a:t>21-04-2026</a:t>
            </a:r>
            <a:endParaRPr dirty="0"/>
          </a:p>
        </p:txBody>
      </p:sp>
      <p:sp>
        <p:nvSpPr>
          <p:cNvPr id="311" name="Google Shape;31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FINAL REVIEW PRESENTATION</a:t>
            </a:r>
            <a:endParaRPr dirty="0"/>
          </a:p>
        </p:txBody>
      </p:sp>
      <p:sp>
        <p:nvSpPr>
          <p:cNvPr id="312" name="Google Shape;31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313" name="Google Shape;313;p25"/>
          <p:cNvSpPr txBox="1">
            <a:spLocks noGrp="1"/>
          </p:cNvSpPr>
          <p:nvPr>
            <p:ph type="title"/>
          </p:nvPr>
        </p:nvSpPr>
        <p:spPr>
          <a:xfrm>
            <a:off x="917863" y="327169"/>
            <a:ext cx="10515600" cy="4384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0070C0"/>
              </a:buClr>
              <a:buSzPts val="2400"/>
              <a:buFont typeface="Cambria"/>
              <a:buNone/>
            </a:pPr>
            <a:r>
              <a:rPr lang="en-US" sz="2400" b="1" dirty="0">
                <a:solidFill>
                  <a:srgbClr val="0070C0"/>
                </a:solidFill>
                <a:latin typeface="Cambria"/>
                <a:ea typeface="Cambria"/>
                <a:cs typeface="Cambria"/>
                <a:sym typeface="Cambria"/>
              </a:rPr>
              <a:t>REFERENCES</a:t>
            </a:r>
            <a:br>
              <a:rPr lang="en-US" sz="2400" b="1" dirty="0">
                <a:solidFill>
                  <a:srgbClr val="0070C0"/>
                </a:solidFill>
                <a:latin typeface="Cambria"/>
                <a:ea typeface="Cambria"/>
                <a:cs typeface="Cambria"/>
                <a:sym typeface="Cambria"/>
              </a:rPr>
            </a:br>
            <a:r>
              <a:rPr lang="en-US" sz="1800" b="1" dirty="0">
                <a:solidFill>
                  <a:srgbClr val="00B050"/>
                </a:solidFill>
                <a:latin typeface="Cambria"/>
                <a:ea typeface="Cambria"/>
                <a:cs typeface="Cambria"/>
                <a:sym typeface="Cambria"/>
              </a:rPr>
              <a:t>( Journal Papers/ Books / Website in IEEE Format )</a:t>
            </a:r>
            <a:endParaRPr sz="1800" b="1" dirty="0">
              <a:solidFill>
                <a:srgbClr val="00B050"/>
              </a:solidFill>
              <a:latin typeface="Cambria"/>
              <a:ea typeface="Cambria"/>
              <a:cs typeface="Cambria"/>
              <a:sym typeface="Cambria"/>
            </a:endParaRPr>
          </a:p>
        </p:txBody>
      </p:sp>
      <p:sp>
        <p:nvSpPr>
          <p:cNvPr id="3" name="Rectangle 2">
            <a:extLst>
              <a:ext uri="{FF2B5EF4-FFF2-40B4-BE49-F238E27FC236}">
                <a16:creationId xmlns:a16="http://schemas.microsoft.com/office/drawing/2014/main" id="{F3B3EA2D-2486-481A-959E-47D6017004B7}"/>
              </a:ext>
            </a:extLst>
          </p:cNvPr>
          <p:cNvSpPr>
            <a:spLocks noChangeArrowheads="1"/>
          </p:cNvSpPr>
          <p:nvPr/>
        </p:nvSpPr>
        <p:spPr bwMode="auto">
          <a:xfrm rot="10800000" flipV="1">
            <a:off x="1093507" y="911514"/>
            <a:ext cx="9872220" cy="198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J. Smith and A. Kumar, “Personalized Learning Systems Using Machine Learning,” </a:t>
            </a:r>
            <a:r>
              <a:rPr kumimoji="0" lang="en-US" altLang="en-US" sz="18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IEEE Transactions on Education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2019.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8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R.Patel</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et al., “Web-Based Student Monitoring System,” </a:t>
            </a:r>
            <a:r>
              <a:rPr kumimoji="0" lang="en-US" altLang="en-US" sz="18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International Journal of Computer Applications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2018. </a:t>
            </a:r>
          </a:p>
        </p:txBody>
      </p:sp>
      <p:sp>
        <p:nvSpPr>
          <p:cNvPr id="4" name="Rectangle 3">
            <a:extLst>
              <a:ext uri="{FF2B5EF4-FFF2-40B4-BE49-F238E27FC236}">
                <a16:creationId xmlns:a16="http://schemas.microsoft.com/office/drawing/2014/main" id="{1C96FAF3-9234-4D20-9DDD-70A121A8C4BE}"/>
              </a:ext>
            </a:extLst>
          </p:cNvPr>
          <p:cNvSpPr>
            <a:spLocks noChangeArrowheads="1"/>
          </p:cNvSpPr>
          <p:nvPr/>
        </p:nvSpPr>
        <p:spPr bwMode="auto">
          <a:xfrm rot="10800000" flipV="1">
            <a:off x="1253370" y="4910305"/>
            <a:ext cx="9552495" cy="1149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Python Flask Official Documentation: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https://flask.palletsprojects.com/</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MySQL Official Documentation: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https://dev.mysql.com/doc/</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1706</Words>
  <Application>Microsoft Office PowerPoint</Application>
  <PresentationFormat>Widescreen</PresentationFormat>
  <Paragraphs>163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Academic Year 2025 - 26 S6 MINI PROJECT - II Final Review </vt:lpstr>
      <vt:lpstr>AIM &amp; OBJECTIVES OF THE PROJECT  (Problem Statement)</vt:lpstr>
      <vt:lpstr>LITERATURE SURVEY </vt:lpstr>
      <vt:lpstr>LITERATURE SURVEY </vt:lpstr>
      <vt:lpstr>SCOPE OF THE PROJECT</vt:lpstr>
      <vt:lpstr>PROPOSED METHODOLOGY ( Flow Chart) </vt:lpstr>
      <vt:lpstr>PROPOSED METHODOLOGY ( Gantt Chart) </vt:lpstr>
      <vt:lpstr>CHOICE  OF  COMPONENTS  /  MODULES  / METHODS/TECHNIQUES  EQUIPMENT  USED FOR  PROJECT DEVELOPMENT </vt:lpstr>
      <vt:lpstr>DESIGN(S) (HARDWARE / SOFTWARE ARCHITECTURE) </vt:lpstr>
      <vt:lpstr>ANALYSIS OF RESULTS AND DISCUSSION</vt:lpstr>
      <vt:lpstr>CONCLUSION</vt:lpstr>
      <vt:lpstr>FUTURE ENHANCEMENTS</vt:lpstr>
      <vt:lpstr>REFERENCES ( Journal Papers/ Books / Website in IEEE Format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Year 2024 - 25  S5 MINI PROJECT - I Second Review</dc:title>
  <dc:creator>TRC</dc:creator>
  <cp:lastModifiedBy>Monika N</cp:lastModifiedBy>
  <cp:revision>11</cp:revision>
  <dcterms:created xsi:type="dcterms:W3CDTF">2023-07-14T12:21:17Z</dcterms:created>
  <dcterms:modified xsi:type="dcterms:W3CDTF">2026-04-20T14:56:59Z</dcterms:modified>
</cp:coreProperties>
</file>